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57" r:id="rId4"/>
    <p:sldId id="262" r:id="rId5"/>
    <p:sldId id="271" r:id="rId6"/>
    <p:sldId id="272" r:id="rId7"/>
    <p:sldId id="263" r:id="rId8"/>
    <p:sldId id="266" r:id="rId9"/>
    <p:sldId id="268" r:id="rId10"/>
    <p:sldId id="295" r:id="rId11"/>
    <p:sldId id="273" r:id="rId12"/>
    <p:sldId id="274" r:id="rId13"/>
    <p:sldId id="275" r:id="rId14"/>
    <p:sldId id="284" r:id="rId15"/>
    <p:sldId id="285" r:id="rId16"/>
    <p:sldId id="276" r:id="rId17"/>
    <p:sldId id="294" r:id="rId18"/>
    <p:sldId id="281" r:id="rId19"/>
    <p:sldId id="293" r:id="rId20"/>
    <p:sldId id="277" r:id="rId21"/>
    <p:sldId id="290" r:id="rId22"/>
    <p:sldId id="291" r:id="rId23"/>
    <p:sldId id="292" r:id="rId24"/>
    <p:sldId id="279" r:id="rId25"/>
    <p:sldId id="286" r:id="rId26"/>
    <p:sldId id="287" r:id="rId27"/>
    <p:sldId id="280" r:id="rId28"/>
    <p:sldId id="288" r:id="rId29"/>
    <p:sldId id="289" r:id="rId30"/>
    <p:sldId id="282" r:id="rId31"/>
    <p:sldId id="283" r:id="rId32"/>
    <p:sldId id="29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85" d="100"/>
          <a:sy n="85" d="100"/>
        </p:scale>
        <p:origin x="63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B5D1-67E8-4A51-8662-C9C0A9125B4C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D5F7-184E-44E2-8845-F0C948626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47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B5D1-67E8-4A51-8662-C9C0A9125B4C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D5F7-184E-44E2-8845-F0C948626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6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558B5D1-67E8-4A51-8662-C9C0A9125B4C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B9D5F7-184E-44E2-8845-F0C948626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2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B5D1-67E8-4A51-8662-C9C0A9125B4C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D5F7-184E-44E2-8845-F0C948626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0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B5D1-67E8-4A51-8662-C9C0A9125B4C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D5F7-184E-44E2-8845-F0C948626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70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B5D1-67E8-4A51-8662-C9C0A9125B4C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D5F7-184E-44E2-8845-F0C948626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6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B5D1-67E8-4A51-8662-C9C0A9125B4C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D5F7-184E-44E2-8845-F0C948626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8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B5D1-67E8-4A51-8662-C9C0A9125B4C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D5F7-184E-44E2-8845-F0C948626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8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B5D1-67E8-4A51-8662-C9C0A9125B4C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D5F7-184E-44E2-8845-F0C948626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98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B5D1-67E8-4A51-8662-C9C0A9125B4C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D5F7-184E-44E2-8845-F0C948626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39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558B5D1-67E8-4A51-8662-C9C0A9125B4C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D5B9D5F7-184E-44E2-8845-F0C948626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9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558B5D1-67E8-4A51-8662-C9C0A9125B4C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D5B9D5F7-184E-44E2-8845-F0C948626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7141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85F639-8696-7043-F4EC-A540A61B95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 </a:t>
            </a:r>
            <a:r>
              <a:rPr lang="en-US" dirty="0" err="1"/>
              <a:t>OVerVIEW</a:t>
            </a:r>
            <a:r>
              <a:rPr lang="en-US" dirty="0"/>
              <a:t> Of</a:t>
            </a:r>
            <a:r>
              <a:rPr lang="cs-CZ" dirty="0"/>
              <a:t> </a:t>
            </a:r>
            <a:r>
              <a:rPr lang="cs-CZ" dirty="0" err="1"/>
              <a:t>Results</a:t>
            </a:r>
            <a:br>
              <a:rPr lang="en-US" dirty="0"/>
            </a:br>
            <a:r>
              <a:rPr lang="en-US" dirty="0"/>
              <a:t> TOAD-GAN &amp; MARIOGAN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C523705-863D-69E9-1FF9-1A34B431DF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416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642F03FF-6E43-456A-6445-89674637A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TOAD-GAN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DF37A64-C092-C193-582B-E511F82D4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0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A7202D-9BFB-0AA5-DF81-DBA8CDDB7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TOAD-GAN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B9C7483-59DA-94A1-55F4-28ECDE2BF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79"/>
            <a:ext cx="9784080" cy="4722081"/>
          </a:xfrm>
        </p:spPr>
        <p:txBody>
          <a:bodyPr>
            <a:normAutofit/>
          </a:bodyPr>
          <a:lstStyle/>
          <a:p>
            <a:r>
              <a:rPr lang="cs-CZ" sz="2800" b="1" dirty="0"/>
              <a:t>TODO</a:t>
            </a:r>
            <a:r>
              <a:rPr lang="en-US" sz="2800" b="1" dirty="0"/>
              <a:t> </a:t>
            </a:r>
            <a:r>
              <a:rPr lang="en-US" sz="2800" b="1" dirty="0" err="1"/>
              <a:t>ToadGAN</a:t>
            </a:r>
            <a:r>
              <a:rPr lang="en-US" sz="2800" b="1" dirty="0"/>
              <a:t> (</a:t>
            </a:r>
            <a:r>
              <a:rPr lang="en-US" sz="2800" b="1" dirty="0" err="1"/>
              <a:t>natrénovanej</a:t>
            </a:r>
            <a:r>
              <a:rPr lang="en-US" sz="2800" b="1" dirty="0"/>
              <a:t> GAN </a:t>
            </a:r>
            <a:r>
              <a:rPr lang="en-US" sz="2800" b="1" dirty="0" err="1"/>
              <a:t>na</a:t>
            </a:r>
            <a:r>
              <a:rPr lang="en-US" sz="2800" b="1" dirty="0"/>
              <a:t> </a:t>
            </a:r>
            <a:r>
              <a:rPr lang="en-US" sz="2800" b="1" dirty="0" err="1"/>
              <a:t>každý</a:t>
            </a:r>
            <a:r>
              <a:rPr lang="en-US" sz="2800" b="1" dirty="0"/>
              <a:t> level </a:t>
            </a:r>
            <a:r>
              <a:rPr lang="en-US" sz="2800" b="1" dirty="0" err="1"/>
              <a:t>zvlášť</a:t>
            </a:r>
            <a:r>
              <a:rPr lang="en-US" sz="2800" b="1" dirty="0"/>
              <a:t>):</a:t>
            </a:r>
            <a:endParaRPr lang="cs-CZ" sz="2800" b="1" dirty="0"/>
          </a:p>
          <a:p>
            <a:pPr lvl="1"/>
            <a:r>
              <a:rPr lang="en-US" sz="2600" dirty="0" err="1"/>
              <a:t>generovat</a:t>
            </a:r>
            <a:r>
              <a:rPr lang="en-US" sz="2600" dirty="0"/>
              <a:t> 100 </a:t>
            </a:r>
            <a:r>
              <a:rPr lang="en-US" sz="2600" dirty="0" err="1"/>
              <a:t>levelů</a:t>
            </a:r>
            <a:r>
              <a:rPr lang="en-US" sz="2600" dirty="0"/>
              <a:t> z original 1-1</a:t>
            </a:r>
          </a:p>
          <a:p>
            <a:pPr lvl="1"/>
            <a:r>
              <a:rPr lang="en-US" sz="2800" dirty="0" err="1"/>
              <a:t>generovat</a:t>
            </a:r>
            <a:r>
              <a:rPr lang="en-US" sz="2800" dirty="0"/>
              <a:t> 100 </a:t>
            </a:r>
            <a:r>
              <a:rPr lang="en-US" sz="2800" dirty="0" err="1"/>
              <a:t>levelů</a:t>
            </a:r>
            <a:r>
              <a:rPr lang="en-US" sz="2800" dirty="0"/>
              <a:t> z original 3-3 </a:t>
            </a:r>
          </a:p>
          <a:p>
            <a:pPr lvl="1"/>
            <a:r>
              <a:rPr lang="en-US" sz="2800" dirty="0" err="1"/>
              <a:t>generovat</a:t>
            </a:r>
            <a:r>
              <a:rPr lang="en-US" sz="2800" dirty="0"/>
              <a:t> 100 </a:t>
            </a:r>
            <a:r>
              <a:rPr lang="en-US" sz="2800" dirty="0" err="1"/>
              <a:t>levelů</a:t>
            </a:r>
            <a:r>
              <a:rPr lang="en-US" sz="2800" dirty="0"/>
              <a:t> z </a:t>
            </a:r>
            <a:r>
              <a:rPr lang="en-US" sz="2800" dirty="0" err="1"/>
              <a:t>krys</a:t>
            </a:r>
            <a:r>
              <a:rPr lang="en-US" sz="2800" dirty="0"/>
              <a:t> (</a:t>
            </a:r>
            <a:r>
              <a:rPr lang="cs-CZ" sz="2800" dirty="0"/>
              <a:t>udělal jsem</a:t>
            </a:r>
            <a:r>
              <a:rPr lang="en-US" sz="2800" dirty="0"/>
              <a:t> lvl-1)</a:t>
            </a:r>
          </a:p>
          <a:p>
            <a:pPr lvl="1"/>
            <a:endParaRPr lang="cs-CZ" sz="2800" dirty="0"/>
          </a:p>
          <a:p>
            <a:pPr lvl="1"/>
            <a:r>
              <a:rPr lang="en-US" sz="2800" dirty="0"/>
              <a:t>(pro </a:t>
            </a:r>
            <a:r>
              <a:rPr lang="en-US" sz="2800" dirty="0" err="1"/>
              <a:t>každý</a:t>
            </a:r>
            <a:r>
              <a:rPr lang="en-US" sz="2800" dirty="0"/>
              <a:t> level/GAN)</a:t>
            </a:r>
          </a:p>
          <a:p>
            <a:pPr lvl="1"/>
            <a:r>
              <a:rPr lang="en-US" sz="2800" dirty="0" err="1"/>
              <a:t>otestovat</a:t>
            </a:r>
            <a:r>
              <a:rPr lang="en-US" sz="2800" dirty="0"/>
              <a:t> </a:t>
            </a:r>
            <a:r>
              <a:rPr lang="en-US" sz="2800" dirty="0" err="1"/>
              <a:t>počet</a:t>
            </a:r>
            <a:r>
              <a:rPr lang="en-US" sz="2800" dirty="0"/>
              <a:t> playable </a:t>
            </a:r>
            <a:r>
              <a:rPr lang="en-US" sz="2800" dirty="0" err="1"/>
              <a:t>levelů</a:t>
            </a:r>
            <a:r>
              <a:rPr lang="en-US" sz="2800" dirty="0"/>
              <a:t> </a:t>
            </a:r>
            <a:r>
              <a:rPr lang="en-US" sz="2800" dirty="0" err="1"/>
              <a:t>pomocí</a:t>
            </a:r>
            <a:r>
              <a:rPr lang="en-US" sz="2800" dirty="0"/>
              <a:t> </a:t>
            </a:r>
            <a:r>
              <a:rPr lang="en-US" sz="2800" dirty="0" err="1"/>
              <a:t>baumgartena</a:t>
            </a:r>
            <a:r>
              <a:rPr lang="en-US" sz="2800" dirty="0"/>
              <a:t> (</a:t>
            </a:r>
            <a:r>
              <a:rPr lang="en-US" sz="2800" dirty="0" err="1"/>
              <a:t>původního</a:t>
            </a:r>
            <a:r>
              <a:rPr lang="en-US" sz="2800" dirty="0"/>
              <a:t>) a </a:t>
            </a:r>
            <a:r>
              <a:rPr lang="en-US" sz="2800" dirty="0" err="1"/>
              <a:t>astarGrid</a:t>
            </a:r>
            <a:endParaRPr lang="en-US" sz="2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70706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2B94F2-C658-F3BF-DCAE-C68DD13A3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generovat</a:t>
            </a:r>
            <a:r>
              <a:rPr lang="en-US" dirty="0"/>
              <a:t> 100 </a:t>
            </a:r>
            <a:r>
              <a:rPr lang="en-US" dirty="0" err="1"/>
              <a:t>levelů</a:t>
            </a:r>
            <a:r>
              <a:rPr lang="en-US" dirty="0"/>
              <a:t> z original 1-1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5256FA-BF92-EB91-4E0A-59BD9CD05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100 levels generated from original level-1</a:t>
            </a:r>
          </a:p>
          <a:p>
            <a:endParaRPr lang="en-US" dirty="0"/>
          </a:p>
          <a:p>
            <a:r>
              <a:rPr lang="en-US" dirty="0"/>
              <a:t>One generated level was broken and could not be finished</a:t>
            </a:r>
          </a:p>
          <a:p>
            <a:endParaRPr lang="en-US" dirty="0"/>
          </a:p>
          <a:p>
            <a:r>
              <a:rPr lang="en-US" dirty="0"/>
              <a:t>Baumgarten failed on 3 levels that were </a:t>
            </a:r>
            <a:r>
              <a:rPr lang="en-US" dirty="0" err="1"/>
              <a:t>finishable</a:t>
            </a:r>
            <a:r>
              <a:rPr lang="en-US" dirty="0"/>
              <a:t> (+ the broken level)</a:t>
            </a:r>
          </a:p>
          <a:p>
            <a:endParaRPr lang="en-US" dirty="0"/>
          </a:p>
          <a:p>
            <a:r>
              <a:rPr lang="en-US" dirty="0"/>
              <a:t>MFF-A* Grid only failed on the unfinishable level </a:t>
            </a:r>
            <a:br>
              <a:rPr lang="en-US" dirty="0"/>
            </a:br>
            <a:r>
              <a:rPr lang="en-US" dirty="0"/>
              <a:t>(=&gt; MFF-A* Grid completed all levels which could be finished)</a:t>
            </a:r>
          </a:p>
          <a:p>
            <a:endParaRPr lang="en-US" dirty="0"/>
          </a:p>
          <a:p>
            <a:r>
              <a:rPr lang="en-US" dirty="0"/>
              <a:t>MFF-A* failed on one </a:t>
            </a:r>
            <a:r>
              <a:rPr lang="en-US" dirty="0" err="1"/>
              <a:t>finishable</a:t>
            </a:r>
            <a:r>
              <a:rPr lang="en-US" dirty="0"/>
              <a:t> level.</a:t>
            </a:r>
          </a:p>
        </p:txBody>
      </p:sp>
    </p:spTree>
    <p:extLst>
      <p:ext uri="{BB962C8B-B14F-4D97-AF65-F5344CB8AC3E}">
        <p14:creationId xmlns:p14="http://schemas.microsoft.com/office/powerpoint/2010/main" val="3526219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8A96B-088B-E912-723C-31DBF18A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8B7DC2-8D3C-1163-DDAC-48819E23C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generovat</a:t>
            </a:r>
            <a:r>
              <a:rPr lang="en-US" dirty="0"/>
              <a:t> 100 </a:t>
            </a:r>
            <a:r>
              <a:rPr lang="en-US" dirty="0" err="1"/>
              <a:t>levelů</a:t>
            </a:r>
            <a:r>
              <a:rPr lang="en-US" dirty="0"/>
              <a:t> z original 3-3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B6ED0D-B9F1-FD38-776F-34A632FEB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Mff</a:t>
            </a:r>
            <a:r>
              <a:rPr lang="en-US" dirty="0"/>
              <a:t> </a:t>
            </a:r>
            <a:r>
              <a:rPr lang="en-US" dirty="0" err="1"/>
              <a:t>Astar</a:t>
            </a:r>
            <a:r>
              <a:rPr lang="en-US" dirty="0"/>
              <a:t> Grid:</a:t>
            </a:r>
          </a:p>
          <a:p>
            <a:r>
              <a:rPr lang="en-US" dirty="0"/>
              <a:t>Win Rate: 50%</a:t>
            </a:r>
          </a:p>
          <a:p>
            <a:endParaRPr lang="en-US" dirty="0"/>
          </a:p>
          <a:p>
            <a:r>
              <a:rPr lang="en-US" dirty="0"/>
              <a:t>Baumgarten:</a:t>
            </a:r>
          </a:p>
          <a:p>
            <a:r>
              <a:rPr lang="en-US" dirty="0"/>
              <a:t>Wins: 14%</a:t>
            </a:r>
          </a:p>
          <a:p>
            <a:r>
              <a:rPr lang="en-US" dirty="0"/>
              <a:t>Time outs: 0%</a:t>
            </a:r>
          </a:p>
          <a:p>
            <a:r>
              <a:rPr lang="en-US" dirty="0"/>
              <a:t>Lose: 86%</a:t>
            </a:r>
          </a:p>
        </p:txBody>
      </p:sp>
    </p:spTree>
    <p:extLst>
      <p:ext uri="{BB962C8B-B14F-4D97-AF65-F5344CB8AC3E}">
        <p14:creationId xmlns:p14="http://schemas.microsoft.com/office/powerpoint/2010/main" val="3651695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97763-DC6D-53B4-9694-2D2268B92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0A0A35-19DE-5DD7-92A3-F3EC1435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generovat</a:t>
            </a:r>
            <a:r>
              <a:rPr lang="en-US" dirty="0"/>
              <a:t> 100 </a:t>
            </a:r>
            <a:r>
              <a:rPr lang="en-US" dirty="0" err="1"/>
              <a:t>levelů</a:t>
            </a:r>
            <a:r>
              <a:rPr lang="en-US" dirty="0"/>
              <a:t> z krys-1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689CD27-376A-DAD0-C29D-7709CB4AD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Mff</a:t>
            </a:r>
            <a:r>
              <a:rPr lang="en-US" dirty="0"/>
              <a:t> </a:t>
            </a:r>
            <a:r>
              <a:rPr lang="en-US" dirty="0" err="1"/>
              <a:t>Astar</a:t>
            </a:r>
            <a:r>
              <a:rPr lang="en-US" dirty="0"/>
              <a:t> Grid:</a:t>
            </a:r>
          </a:p>
          <a:p>
            <a:r>
              <a:rPr lang="en-US" dirty="0"/>
              <a:t>Win Rate: 23.00%</a:t>
            </a:r>
          </a:p>
          <a:p>
            <a:endParaRPr lang="en-US" dirty="0"/>
          </a:p>
          <a:p>
            <a:r>
              <a:rPr lang="en-US" dirty="0"/>
              <a:t>Baumgarten:</a:t>
            </a:r>
          </a:p>
          <a:p>
            <a:r>
              <a:rPr lang="en-US" dirty="0"/>
              <a:t>Wins: 10%</a:t>
            </a:r>
          </a:p>
          <a:p>
            <a:r>
              <a:rPr lang="en-US" dirty="0"/>
              <a:t>Time outs: 42%</a:t>
            </a:r>
          </a:p>
          <a:p>
            <a:r>
              <a:rPr lang="en-US" dirty="0"/>
              <a:t>Lose: 48%</a:t>
            </a:r>
          </a:p>
        </p:txBody>
      </p:sp>
    </p:spTree>
    <p:extLst>
      <p:ext uri="{BB962C8B-B14F-4D97-AF65-F5344CB8AC3E}">
        <p14:creationId xmlns:p14="http://schemas.microsoft.com/office/powerpoint/2010/main" val="2288809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941474-D548-1C61-9BB6-70E2AE37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(Larger test results)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FA4DCC-014E-132C-7D52-6C7B3B98F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80"/>
            <a:ext cx="9784080" cy="456214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1000 levels generated from randomly chosen set of the original levels</a:t>
            </a:r>
          </a:p>
          <a:p>
            <a:endParaRPr lang="en-US" dirty="0"/>
          </a:p>
          <a:p>
            <a:r>
              <a:rPr lang="en-US" dirty="0"/>
              <a:t>Baumgarten -&gt; failed 582 levels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MFF-A* Grid -&gt; failed 239 levels</a:t>
            </a:r>
          </a:p>
          <a:p>
            <a:r>
              <a:rPr lang="en-US" dirty="0"/>
              <a:t>=&gt; MFF-A* Grid was able to solve 76.1% of levels and Baumgarten 41.8% </a:t>
            </a:r>
            <a:br>
              <a:rPr lang="en-US" dirty="0"/>
            </a:br>
            <a:r>
              <a:rPr lang="en-US" dirty="0"/>
              <a:t>(The paper stated 65%)</a:t>
            </a:r>
            <a:br>
              <a:rPr lang="en-US" dirty="0"/>
            </a:br>
            <a:endParaRPr lang="en-US" dirty="0"/>
          </a:p>
          <a:p>
            <a:r>
              <a:rPr lang="en-US" dirty="0"/>
              <a:t>Found 8 levels which were completable by Baumgarten and not by MFF-A* Grid:</a:t>
            </a:r>
          </a:p>
          <a:p>
            <a:r>
              <a:rPr lang="en-US" dirty="0"/>
              <a:t>6 levels need a </a:t>
            </a:r>
            <a:r>
              <a:rPr lang="en-US" dirty="0" err="1"/>
              <a:t>jumpBoost</a:t>
            </a:r>
            <a:r>
              <a:rPr lang="en-US" dirty="0"/>
              <a:t> 1 </a:t>
            </a:r>
          </a:p>
          <a:p>
            <a:r>
              <a:rPr lang="en-US" dirty="0"/>
              <a:t>1 needs </a:t>
            </a:r>
            <a:r>
              <a:rPr lang="en-US" dirty="0" err="1"/>
              <a:t>jumpBoost</a:t>
            </a:r>
            <a:r>
              <a:rPr lang="en-US" dirty="0"/>
              <a:t> 3 (jump requiring bounce over an enemy)</a:t>
            </a:r>
          </a:p>
          <a:p>
            <a:r>
              <a:rPr lang="en-US" dirty="0"/>
              <a:t>1 level remains unsolvable(???)</a:t>
            </a:r>
          </a:p>
        </p:txBody>
      </p:sp>
    </p:spTree>
    <p:extLst>
      <p:ext uri="{BB962C8B-B14F-4D97-AF65-F5344CB8AC3E}">
        <p14:creationId xmlns:p14="http://schemas.microsoft.com/office/powerpoint/2010/main" val="993578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642F03FF-6E43-456A-6445-89674637A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DAGSTUHL MARIOGAN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DF37A64-C092-C193-582B-E511F82D4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(ten </a:t>
            </a:r>
            <a:r>
              <a:rPr lang="en-US" dirty="0" err="1"/>
              <a:t>vybojovanej</a:t>
            </a:r>
            <a:r>
              <a:rPr lang="en-US" dirty="0"/>
              <a:t> co </a:t>
            </a:r>
            <a:r>
              <a:rPr lang="en-US" dirty="0" err="1"/>
              <a:t>jde</a:t>
            </a:r>
            <a:r>
              <a:rPr lang="en-US" dirty="0"/>
              <a:t> </a:t>
            </a:r>
            <a:r>
              <a:rPr lang="en-US" dirty="0" err="1"/>
              <a:t>jen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Macu</a:t>
            </a:r>
            <a:r>
              <a:rPr lang="en-US" dirty="0"/>
              <a:t>):</a:t>
            </a:r>
          </a:p>
        </p:txBody>
      </p:sp>
    </p:spTree>
    <p:extLst>
      <p:ext uri="{BB962C8B-B14F-4D97-AF65-F5344CB8AC3E}">
        <p14:creationId xmlns:p14="http://schemas.microsoft.com/office/powerpoint/2010/main" val="2159496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99463C-BD56-90FA-5E1C-4A74A4D25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 LIST DAGSTUHL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397B814-A198-C961-1654-2AB415068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841" y="1963997"/>
            <a:ext cx="10856115" cy="4894003"/>
          </a:xfrm>
        </p:spPr>
        <p:txBody>
          <a:bodyPr>
            <a:normAutofit/>
          </a:bodyPr>
          <a:lstStyle/>
          <a:p>
            <a:pPr lvl="1"/>
            <a:r>
              <a:rPr lang="en-US" dirty="0" err="1"/>
              <a:t>Vyměnit</a:t>
            </a:r>
            <a:r>
              <a:rPr lang="en-US" dirty="0"/>
              <a:t> </a:t>
            </a:r>
            <a:r>
              <a:rPr lang="en-US" dirty="0" err="1"/>
              <a:t>BaumgartenSlim</a:t>
            </a:r>
            <a:r>
              <a:rPr lang="en-US" dirty="0"/>
              <a:t> za </a:t>
            </a:r>
            <a:r>
              <a:rPr lang="en-US" dirty="0" err="1"/>
              <a:t>normálního</a:t>
            </a:r>
            <a:r>
              <a:rPr lang="en-US" dirty="0"/>
              <a:t> </a:t>
            </a:r>
            <a:r>
              <a:rPr lang="en-US" dirty="0" err="1"/>
              <a:t>Baumgartena</a:t>
            </a:r>
            <a:r>
              <a:rPr lang="en-US" dirty="0"/>
              <a:t> (</a:t>
            </a:r>
            <a:r>
              <a:rPr lang="en-US" dirty="0" err="1"/>
              <a:t>hotovo</a:t>
            </a:r>
            <a:r>
              <a:rPr lang="en-US" dirty="0"/>
              <a:t>)</a:t>
            </a:r>
            <a:endParaRPr lang="cs-CZ" dirty="0"/>
          </a:p>
          <a:p>
            <a:pPr lvl="1"/>
            <a:r>
              <a:rPr lang="en-US" dirty="0" err="1"/>
              <a:t>Dagstuhl</a:t>
            </a:r>
            <a:r>
              <a:rPr lang="en-US" dirty="0"/>
              <a:t>: </a:t>
            </a:r>
            <a:r>
              <a:rPr lang="en-US" dirty="0" err="1"/>
              <a:t>Přidat</a:t>
            </a:r>
            <a:r>
              <a:rPr lang="en-US" dirty="0"/>
              <a:t> platformy (</a:t>
            </a:r>
            <a:r>
              <a:rPr lang="en-US" dirty="0" err="1"/>
              <a:t>konec</a:t>
            </a:r>
            <a:r>
              <a:rPr lang="en-US" dirty="0"/>
              <a:t> </a:t>
            </a:r>
            <a:r>
              <a:rPr lang="en-US" dirty="0" err="1"/>
              <a:t>začátek</a:t>
            </a:r>
            <a:r>
              <a:rPr lang="en-US" dirty="0"/>
              <a:t>)</a:t>
            </a:r>
            <a:endParaRPr lang="cs-CZ" dirty="0"/>
          </a:p>
          <a:p>
            <a:pPr lvl="1"/>
            <a:r>
              <a:rPr lang="en-US" dirty="0" err="1"/>
              <a:t>Udělát</a:t>
            </a:r>
            <a:r>
              <a:rPr lang="en-US" dirty="0"/>
              <a:t> </a:t>
            </a:r>
            <a:r>
              <a:rPr lang="en-US" dirty="0" err="1"/>
              <a:t>znova</a:t>
            </a:r>
            <a:r>
              <a:rPr lang="en-US" dirty="0"/>
              <a:t> test Baumgarten vs. MFF </a:t>
            </a:r>
            <a:r>
              <a:rPr lang="en-US" dirty="0" err="1"/>
              <a:t>AStarGrid</a:t>
            </a:r>
            <a:endParaRPr lang="cs-CZ" dirty="0"/>
          </a:p>
          <a:p>
            <a:pPr lvl="1"/>
            <a:endParaRPr lang="cs-CZ" dirty="0"/>
          </a:p>
          <a:p>
            <a:pPr lvl="1"/>
            <a:r>
              <a:rPr lang="en-US" dirty="0" err="1"/>
              <a:t>Zkusit</a:t>
            </a:r>
            <a:r>
              <a:rPr lang="en-US" dirty="0"/>
              <a:t> </a:t>
            </a:r>
            <a:r>
              <a:rPr lang="en-US" dirty="0" err="1"/>
              <a:t>další</a:t>
            </a:r>
            <a:r>
              <a:rPr lang="en-US" dirty="0"/>
              <a:t> fitness </a:t>
            </a:r>
            <a:r>
              <a:rPr lang="en-US" dirty="0" err="1"/>
              <a:t>funkce</a:t>
            </a:r>
            <a:r>
              <a:rPr lang="en-US" dirty="0"/>
              <a:t> grid search</a:t>
            </a:r>
            <a:endParaRPr lang="cs-CZ" dirty="0"/>
          </a:p>
          <a:p>
            <a:pPr lvl="1"/>
            <a:r>
              <a:rPr lang="en-US" dirty="0" err="1"/>
              <a:t>Počet</a:t>
            </a:r>
            <a:r>
              <a:rPr lang="en-US" dirty="0"/>
              <a:t> </a:t>
            </a:r>
            <a:r>
              <a:rPr lang="en-US" dirty="0" err="1"/>
              <a:t>skoků</a:t>
            </a:r>
            <a:r>
              <a:rPr lang="en-US" dirty="0"/>
              <a:t> bez </a:t>
            </a:r>
            <a:r>
              <a:rPr lang="en-US" dirty="0" err="1"/>
              <a:t>dynamických</a:t>
            </a:r>
            <a:r>
              <a:rPr lang="en-US" dirty="0"/>
              <a:t> </a:t>
            </a:r>
            <a:r>
              <a:rPr lang="en-US" dirty="0" err="1"/>
              <a:t>prvků</a:t>
            </a:r>
            <a:endParaRPr lang="cs-CZ" dirty="0"/>
          </a:p>
          <a:p>
            <a:pPr lvl="1"/>
            <a:r>
              <a:rPr lang="en-US" dirty="0"/>
              <a:t>Run time - Baumgarten vs. </a:t>
            </a:r>
            <a:r>
              <a:rPr lang="en-US" dirty="0" err="1"/>
              <a:t>AStarGrid</a:t>
            </a:r>
            <a:r>
              <a:rPr lang="en-US" dirty="0"/>
              <a:t> vs. </a:t>
            </a:r>
            <a:r>
              <a:rPr lang="en-US" dirty="0" err="1"/>
              <a:t>Astar</a:t>
            </a:r>
            <a:endParaRPr lang="cs-CZ" dirty="0"/>
          </a:p>
          <a:p>
            <a:pPr lvl="1"/>
            <a:r>
              <a:rPr lang="en-US" dirty="0"/>
              <a:t>Backtracked nodes - Baumgarten vs. </a:t>
            </a:r>
            <a:r>
              <a:rPr lang="en-US" dirty="0" err="1"/>
              <a:t>AStarGrid</a:t>
            </a:r>
            <a:r>
              <a:rPr lang="en-US" dirty="0"/>
              <a:t> vs. </a:t>
            </a:r>
            <a:r>
              <a:rPr lang="en-US" dirty="0" err="1"/>
              <a:t>AStar</a:t>
            </a:r>
            <a:br>
              <a:rPr lang="en-US" dirty="0"/>
            </a:br>
            <a:r>
              <a:rPr lang="en-US" dirty="0"/>
              <a:t>Outcome: jak </a:t>
            </a:r>
            <a:r>
              <a:rPr lang="en-US" dirty="0" err="1"/>
              <a:t>těžké</a:t>
            </a:r>
            <a:r>
              <a:rPr lang="en-US" dirty="0"/>
              <a:t> </a:t>
            </a:r>
            <a:r>
              <a:rPr lang="en-US" dirty="0" err="1"/>
              <a:t>levely</a:t>
            </a:r>
            <a:r>
              <a:rPr lang="en-US" dirty="0"/>
              <a:t> </a:t>
            </a:r>
            <a:r>
              <a:rPr lang="en-US" dirty="0" err="1"/>
              <a:t>ti</a:t>
            </a:r>
            <a:r>
              <a:rPr lang="en-US" dirty="0"/>
              <a:t> </a:t>
            </a:r>
            <a:r>
              <a:rPr lang="en-US" dirty="0" err="1"/>
              <a:t>různí</a:t>
            </a:r>
            <a:r>
              <a:rPr lang="en-US" dirty="0"/>
              <a:t> </a:t>
            </a:r>
            <a:r>
              <a:rPr lang="en-US" dirty="0" err="1"/>
              <a:t>agenti</a:t>
            </a:r>
            <a:r>
              <a:rPr lang="en-US" dirty="0"/>
              <a:t> </a:t>
            </a:r>
            <a:r>
              <a:rPr lang="en-US" dirty="0" err="1"/>
              <a:t>dovolují</a:t>
            </a:r>
            <a:r>
              <a:rPr lang="en-US" dirty="0"/>
              <a:t> </a:t>
            </a:r>
            <a:r>
              <a:rPr lang="en-US" dirty="0" err="1"/>
              <a:t>najít</a:t>
            </a:r>
            <a:r>
              <a:rPr lang="en-US" dirty="0"/>
              <a:t> (plus </a:t>
            </a:r>
            <a:r>
              <a:rPr lang="en-US" dirty="0" err="1"/>
              <a:t>bych</a:t>
            </a:r>
            <a:r>
              <a:rPr lang="en-US" dirty="0"/>
              <a:t> </a:t>
            </a:r>
            <a:r>
              <a:rPr lang="en-US" dirty="0" err="1"/>
              <a:t>řekl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jak </a:t>
            </a:r>
            <a:r>
              <a:rPr lang="en-US" dirty="0" err="1"/>
              <a:t>rychle</a:t>
            </a:r>
            <a:r>
              <a:rPr lang="en-US" dirty="0"/>
              <a:t> </a:t>
            </a:r>
            <a:r>
              <a:rPr lang="en-US" dirty="0" err="1"/>
              <a:t>dokáže</a:t>
            </a:r>
            <a:r>
              <a:rPr lang="en-US" dirty="0"/>
              <a:t> </a:t>
            </a:r>
            <a:r>
              <a:rPr lang="en-US" dirty="0" err="1"/>
              <a:t>daný</a:t>
            </a:r>
            <a:r>
              <a:rPr lang="en-US" dirty="0"/>
              <a:t> agent </a:t>
            </a:r>
            <a:r>
              <a:rPr lang="en-US" dirty="0" err="1"/>
              <a:t>levely</a:t>
            </a:r>
            <a:r>
              <a:rPr lang="en-US" dirty="0"/>
              <a:t> </a:t>
            </a:r>
            <a:r>
              <a:rPr lang="en-US" dirty="0" err="1"/>
              <a:t>vylepšovat</a:t>
            </a:r>
            <a:r>
              <a:rPr lang="en-US" dirty="0"/>
              <a:t>)</a:t>
            </a:r>
            <a:endParaRPr lang="cs-CZ" dirty="0"/>
          </a:p>
          <a:p>
            <a:pPr lvl="1"/>
            <a:endParaRPr lang="cs-CZ" dirty="0"/>
          </a:p>
          <a:p>
            <a:pPr lvl="1"/>
            <a:r>
              <a:rPr lang="en-US" dirty="0" err="1"/>
              <a:t>Klidně</a:t>
            </a:r>
            <a:r>
              <a:rPr lang="en-US" dirty="0"/>
              <a:t> </a:t>
            </a:r>
            <a:r>
              <a:rPr lang="en-US" dirty="0" err="1"/>
              <a:t>bych</a:t>
            </a:r>
            <a:r>
              <a:rPr lang="en-US" dirty="0"/>
              <a:t> v </a:t>
            </a:r>
            <a:r>
              <a:rPr lang="en-US" dirty="0" err="1"/>
              <a:t>reportu</a:t>
            </a:r>
            <a:r>
              <a:rPr lang="en-US" dirty="0"/>
              <a:t> </a:t>
            </a:r>
            <a:r>
              <a:rPr lang="en-US" dirty="0" err="1"/>
              <a:t>ročníkáče</a:t>
            </a:r>
            <a:r>
              <a:rPr lang="en-US" dirty="0"/>
              <a:t> </a:t>
            </a:r>
            <a:r>
              <a:rPr lang="en-US" dirty="0" err="1"/>
              <a:t>zmínil</a:t>
            </a:r>
            <a:r>
              <a:rPr lang="en-US" dirty="0"/>
              <a:t>, </a:t>
            </a:r>
            <a:r>
              <a:rPr lang="en-US" dirty="0" err="1"/>
              <a:t>že</a:t>
            </a:r>
            <a:r>
              <a:rPr lang="en-US" dirty="0"/>
              <a:t> </a:t>
            </a:r>
            <a:r>
              <a:rPr lang="en-US" dirty="0" err="1"/>
              <a:t>bylo</a:t>
            </a:r>
            <a:r>
              <a:rPr lang="en-US" dirty="0"/>
              <a:t> </a:t>
            </a:r>
            <a:r>
              <a:rPr lang="en-US" dirty="0" err="1"/>
              <a:t>potřeba</a:t>
            </a:r>
            <a:r>
              <a:rPr lang="en-US" dirty="0"/>
              <a:t> </a:t>
            </a:r>
            <a:r>
              <a:rPr lang="en-US" dirty="0" err="1"/>
              <a:t>sehnat</a:t>
            </a:r>
            <a:r>
              <a:rPr lang="en-US" dirty="0"/>
              <a:t> </a:t>
            </a:r>
            <a:r>
              <a:rPr lang="en-US" dirty="0" err="1"/>
              <a:t>starý</a:t>
            </a:r>
            <a:r>
              <a:rPr lang="en-US" dirty="0"/>
              <a:t> Mac a </a:t>
            </a:r>
            <a:r>
              <a:rPr lang="en-US" dirty="0" err="1"/>
              <a:t>jaký</a:t>
            </a:r>
            <a:r>
              <a:rPr lang="en-US" dirty="0"/>
              <a:t> pain </a:t>
            </a:r>
            <a:r>
              <a:rPr lang="en-US" dirty="0" err="1"/>
              <a:t>byl</a:t>
            </a:r>
            <a:r>
              <a:rPr lang="en-US" dirty="0"/>
              <a:t> to </a:t>
            </a:r>
            <a:r>
              <a:rPr lang="en-US" dirty="0" err="1"/>
              <a:t>zprovoznit</a:t>
            </a:r>
            <a:r>
              <a:rPr lang="en-US" dirty="0"/>
              <a:t> (TODO)</a:t>
            </a:r>
            <a:endParaRPr lang="cs-CZ" dirty="0"/>
          </a:p>
          <a:p>
            <a:pPr lvl="1"/>
            <a:r>
              <a:rPr lang="en-US" dirty="0" err="1"/>
              <a:t>Pozor</a:t>
            </a:r>
            <a:r>
              <a:rPr lang="en-US" dirty="0"/>
              <a:t>, </a:t>
            </a:r>
            <a:r>
              <a:rPr lang="en-US" dirty="0" err="1"/>
              <a:t>výsledky</a:t>
            </a:r>
            <a:r>
              <a:rPr lang="en-US" dirty="0"/>
              <a:t> </a:t>
            </a:r>
            <a:r>
              <a:rPr lang="en-US" dirty="0" err="1"/>
              <a:t>jsou</a:t>
            </a:r>
            <a:r>
              <a:rPr lang="en-US" dirty="0"/>
              <a:t> o </a:t>
            </a:r>
            <a:r>
              <a:rPr lang="en-US" dirty="0" err="1"/>
              <a:t>jednu</a:t>
            </a:r>
            <a:r>
              <a:rPr lang="en-US" dirty="0"/>
              <a:t> </a:t>
            </a:r>
            <a:r>
              <a:rPr lang="en-US" dirty="0" err="1"/>
              <a:t>shiftované</a:t>
            </a:r>
            <a:r>
              <a:rPr lang="en-US" dirty="0"/>
              <a:t>, </a:t>
            </a:r>
            <a:r>
              <a:rPr lang="en-US" dirty="0" err="1"/>
              <a:t>protože</a:t>
            </a:r>
            <a:r>
              <a:rPr lang="en-US" dirty="0"/>
              <a:t> </a:t>
            </a:r>
            <a:r>
              <a:rPr lang="en-US" dirty="0" err="1"/>
              <a:t>dokončitelný</a:t>
            </a:r>
            <a:r>
              <a:rPr lang="en-US" dirty="0"/>
              <a:t> level </a:t>
            </a:r>
            <a:r>
              <a:rPr lang="en-US" dirty="0" err="1"/>
              <a:t>vrátí</a:t>
            </a:r>
            <a:r>
              <a:rPr lang="en-US" dirty="0"/>
              <a:t> 1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678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21A42-60AD-2B2F-0CAE-F6FC9D7C1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F91EFF-AE7D-74B5-B09F-507E6135B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 LIST DAGSTUHL</a:t>
            </a:r>
            <a:r>
              <a:rPr lang="cs-CZ" dirty="0"/>
              <a:t> 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1503F5-CFB3-1ACC-C2E9-C8861BAB4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841" y="1963997"/>
            <a:ext cx="10856115" cy="4894003"/>
          </a:xfrm>
        </p:spPr>
        <p:txBody>
          <a:bodyPr>
            <a:normAutofit/>
          </a:bodyPr>
          <a:lstStyle/>
          <a:p>
            <a:pPr lvl="1"/>
            <a:r>
              <a:rPr lang="en-US" dirty="0" err="1"/>
              <a:t>Navíc</a:t>
            </a:r>
            <a:r>
              <a:rPr lang="en-US" dirty="0"/>
              <a:t>:</a:t>
            </a:r>
            <a:endParaRPr lang="cs-CZ" dirty="0"/>
          </a:p>
          <a:p>
            <a:pPr lvl="1"/>
            <a:r>
              <a:rPr lang="en-US" dirty="0" err="1"/>
              <a:t>Vylepšovat</a:t>
            </a:r>
            <a:r>
              <a:rPr lang="en-US" dirty="0"/>
              <a:t> </a:t>
            </a:r>
            <a:r>
              <a:rPr lang="en-US" dirty="0" err="1"/>
              <a:t>levely</a:t>
            </a:r>
            <a:r>
              <a:rPr lang="en-US" dirty="0"/>
              <a:t>, aby tam </a:t>
            </a:r>
            <a:r>
              <a:rPr lang="en-US" dirty="0" err="1"/>
              <a:t>bylo</a:t>
            </a:r>
            <a:r>
              <a:rPr lang="en-US" dirty="0"/>
              <a:t> co </a:t>
            </a:r>
            <a:r>
              <a:rPr lang="en-US" dirty="0" err="1"/>
              <a:t>nejvíc</a:t>
            </a:r>
            <a:r>
              <a:rPr lang="en-US" dirty="0"/>
              <a:t> </a:t>
            </a:r>
            <a:r>
              <a:rPr lang="en-US" dirty="0" err="1"/>
              <a:t>enemáků</a:t>
            </a:r>
            <a:endParaRPr lang="cs-CZ" dirty="0"/>
          </a:p>
          <a:p>
            <a:pPr lvl="1"/>
            <a:r>
              <a:rPr lang="cs-CZ" dirty="0"/>
              <a:t>Několik </a:t>
            </a:r>
            <a:r>
              <a:rPr lang="en-US" dirty="0"/>
              <a:t>t</a:t>
            </a:r>
            <a:r>
              <a:rPr lang="cs-CZ" dirty="0" err="1"/>
              <a:t>estů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generátoru</a:t>
            </a:r>
            <a:r>
              <a:rPr lang="en-US" dirty="0"/>
              <a:t> z </a:t>
            </a:r>
            <a:r>
              <a:rPr lang="en-US" dirty="0" err="1"/>
              <a:t>kry</a:t>
            </a:r>
            <a:r>
              <a:rPr lang="cs-CZ" dirty="0"/>
              <a:t>s</a:t>
            </a:r>
            <a:r>
              <a:rPr lang="en-US" dirty="0"/>
              <a:t> </a:t>
            </a:r>
            <a:r>
              <a:rPr lang="en-US" dirty="0" err="1"/>
              <a:t>levelů</a:t>
            </a:r>
            <a:r>
              <a:rPr lang="en-US" dirty="0"/>
              <a:t> (</a:t>
            </a:r>
            <a:r>
              <a:rPr lang="en-US" dirty="0" err="1"/>
              <a:t>protože</a:t>
            </a:r>
            <a:r>
              <a:rPr lang="en-US" dirty="0"/>
              <a:t> z </a:t>
            </a:r>
            <a:r>
              <a:rPr lang="en-US" dirty="0" err="1"/>
              <a:t>té</a:t>
            </a:r>
            <a:r>
              <a:rPr lang="en-US" dirty="0"/>
              <a:t> orig-1-1 </a:t>
            </a:r>
            <a:r>
              <a:rPr lang="en-US" dirty="0" err="1"/>
              <a:t>vychází</a:t>
            </a:r>
            <a:r>
              <a:rPr lang="en-US" dirty="0"/>
              <a:t> </a:t>
            </a:r>
            <a:r>
              <a:rPr lang="en-US" dirty="0" err="1"/>
              <a:t>prostě</a:t>
            </a:r>
            <a:r>
              <a:rPr lang="en-US" dirty="0"/>
              <a:t> </a:t>
            </a:r>
            <a:r>
              <a:rPr lang="en-US" dirty="0" err="1"/>
              <a:t>jen</a:t>
            </a:r>
            <a:r>
              <a:rPr lang="en-US" dirty="0"/>
              <a:t> </a:t>
            </a:r>
            <a:r>
              <a:rPr lang="en-US" dirty="0" err="1"/>
              <a:t>trapné</a:t>
            </a:r>
            <a:r>
              <a:rPr lang="en-US" dirty="0"/>
              <a:t> </a:t>
            </a:r>
            <a:r>
              <a:rPr lang="en-US" dirty="0" err="1"/>
              <a:t>levely</a:t>
            </a:r>
            <a:r>
              <a:rPr lang="en-US" dirty="0"/>
              <a:t>)</a:t>
            </a:r>
            <a:endParaRPr lang="cs-CZ" dirty="0"/>
          </a:p>
          <a:p>
            <a:pPr marL="228600" lvl="1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75963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EB900C-B2B8-CBA2-F93A-1CB50E57B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Dagstuhl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24ADE16-E236-81F4-D028-5D878B1EF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Vyměnit</a:t>
            </a:r>
            <a:r>
              <a:rPr lang="en-US" dirty="0"/>
              <a:t> </a:t>
            </a:r>
            <a:r>
              <a:rPr lang="en-US" dirty="0" err="1"/>
              <a:t>BaumgartenSlim</a:t>
            </a:r>
            <a:r>
              <a:rPr lang="en-US" dirty="0"/>
              <a:t> za </a:t>
            </a:r>
            <a:r>
              <a:rPr lang="en-US" dirty="0" err="1"/>
              <a:t>normálního</a:t>
            </a:r>
            <a:r>
              <a:rPr lang="en-US" dirty="0"/>
              <a:t> </a:t>
            </a:r>
            <a:r>
              <a:rPr lang="en-US" dirty="0" err="1"/>
              <a:t>Baumgartena</a:t>
            </a:r>
            <a:r>
              <a:rPr lang="en-US" dirty="0"/>
              <a:t>(</a:t>
            </a:r>
            <a:r>
              <a:rPr lang="en-US" dirty="0" err="1"/>
              <a:t>Hotovo</a:t>
            </a:r>
            <a:r>
              <a:rPr lang="en-US" dirty="0"/>
              <a:t>)</a:t>
            </a:r>
          </a:p>
          <a:p>
            <a:r>
              <a:rPr lang="en-US" dirty="0"/>
              <a:t>P</a:t>
            </a:r>
            <a:r>
              <a:rPr lang="cs-CZ" dirty="0"/>
              <a:t>ř</a:t>
            </a:r>
            <a:r>
              <a:rPr lang="en-US" dirty="0" err="1"/>
              <a:t>idat</a:t>
            </a:r>
            <a:r>
              <a:rPr lang="en-US" dirty="0"/>
              <a:t> platformy (</a:t>
            </a:r>
            <a:r>
              <a:rPr lang="en-US" dirty="0" err="1"/>
              <a:t>konec</a:t>
            </a:r>
            <a:r>
              <a:rPr lang="en-US" dirty="0"/>
              <a:t> za</a:t>
            </a:r>
            <a:r>
              <a:rPr lang="cs-CZ" dirty="0" err="1"/>
              <a:t>čátek</a:t>
            </a:r>
            <a:r>
              <a:rPr lang="en-US" dirty="0"/>
              <a:t>)</a:t>
            </a:r>
            <a:endParaRPr lang="cs-CZ" dirty="0"/>
          </a:p>
          <a:p>
            <a:pPr lvl="1"/>
            <a:r>
              <a:rPr lang="en-US" dirty="0" err="1"/>
              <a:t>asi</a:t>
            </a:r>
            <a:r>
              <a:rPr lang="en-US" dirty="0"/>
              <a:t> </a:t>
            </a:r>
            <a:r>
              <a:rPr lang="en-US" dirty="0" err="1"/>
              <a:t>nejl</a:t>
            </a:r>
            <a:r>
              <a:rPr lang="cs-CZ" dirty="0"/>
              <a:t>é</a:t>
            </a:r>
            <a:r>
              <a:rPr lang="en-US" dirty="0"/>
              <a:t>pe jak </a:t>
            </a:r>
            <a:r>
              <a:rPr lang="en-US" dirty="0" err="1"/>
              <a:t>jen</a:t>
            </a:r>
            <a:r>
              <a:rPr lang="en-US" dirty="0"/>
              <a:t> to </a:t>
            </a:r>
            <a:r>
              <a:rPr lang="cs-CZ" dirty="0"/>
              <a:t>š</a:t>
            </a:r>
            <a:r>
              <a:rPr lang="en-US" dirty="0"/>
              <a:t>lo, star</a:t>
            </a:r>
            <a:r>
              <a:rPr lang="cs-CZ" dirty="0"/>
              <a:t>á</a:t>
            </a:r>
            <a:r>
              <a:rPr lang="en-US" dirty="0"/>
              <a:t> </a:t>
            </a:r>
            <a:r>
              <a:rPr lang="en-US" dirty="0" err="1"/>
              <a:t>verze</a:t>
            </a:r>
            <a:r>
              <a:rPr lang="en-US" dirty="0"/>
              <a:t> p</a:t>
            </a:r>
            <a:r>
              <a:rPr lang="cs-CZ" dirty="0"/>
              <a:t>ř</a:t>
            </a:r>
            <a:r>
              <a:rPr lang="en-US" dirty="0"/>
              <a:t>id</a:t>
            </a:r>
            <a:r>
              <a:rPr lang="cs-CZ" dirty="0"/>
              <a:t>á</a:t>
            </a:r>
            <a:r>
              <a:rPr lang="en-US" dirty="0"/>
              <a:t>v</a:t>
            </a:r>
            <a:r>
              <a:rPr lang="cs-CZ" dirty="0"/>
              <a:t>á</a:t>
            </a:r>
            <a:r>
              <a:rPr lang="en-US" dirty="0"/>
              <a:t> 15 pol</a:t>
            </a:r>
            <a:r>
              <a:rPr lang="cs-CZ" dirty="0" err="1"/>
              <a:t>íč</a:t>
            </a:r>
            <a:r>
              <a:rPr lang="en-US" dirty="0"/>
              <a:t>ek p</a:t>
            </a:r>
            <a:r>
              <a:rPr lang="cs-CZ" dirty="0"/>
              <a:t>ř</a:t>
            </a:r>
            <a:r>
              <a:rPr lang="en-US" dirty="0"/>
              <a:t>ed a za</a:t>
            </a:r>
            <a:r>
              <a:rPr lang="cs-CZ" dirty="0"/>
              <a:t>, </a:t>
            </a:r>
            <a:r>
              <a:rPr lang="en-US" dirty="0"/>
              <a:t>ale </a:t>
            </a:r>
            <a:r>
              <a:rPr lang="cs-CZ" dirty="0"/>
              <a:t>M</a:t>
            </a:r>
            <a:r>
              <a:rPr lang="en-US" dirty="0" err="1"/>
              <a:t>ario</a:t>
            </a:r>
            <a:r>
              <a:rPr lang="en-US" dirty="0"/>
              <a:t> se </a:t>
            </a:r>
            <a:r>
              <a:rPr lang="en-US" dirty="0" err="1"/>
              <a:t>spawnuje</a:t>
            </a:r>
            <a:r>
              <a:rPr lang="en-US" dirty="0"/>
              <a:t> </a:t>
            </a:r>
            <a:r>
              <a:rPr lang="en-US" dirty="0" err="1"/>
              <a:t>mezi</a:t>
            </a:r>
            <a:r>
              <a:rPr lang="en-US" dirty="0"/>
              <a:t> 2 a 3 </a:t>
            </a:r>
            <a:r>
              <a:rPr lang="en-US" dirty="0" err="1"/>
              <a:t>tilem</a:t>
            </a:r>
            <a:r>
              <a:rPr lang="en-US" dirty="0"/>
              <a:t> + </a:t>
            </a:r>
            <a:r>
              <a:rPr lang="en-US" dirty="0" err="1"/>
              <a:t>konec</a:t>
            </a:r>
            <a:r>
              <a:rPr lang="en-US" dirty="0"/>
              <a:t> </a:t>
            </a:r>
            <a:r>
              <a:rPr lang="en-US" dirty="0" err="1"/>
              <a:t>levelu</a:t>
            </a:r>
            <a:r>
              <a:rPr lang="en-US" dirty="0"/>
              <a:t> je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prvn</a:t>
            </a:r>
            <a:r>
              <a:rPr lang="cs-CZ" dirty="0"/>
              <a:t>í</a:t>
            </a:r>
            <a:r>
              <a:rPr lang="en-US" dirty="0"/>
              <a:t>m z t</a:t>
            </a:r>
            <a:r>
              <a:rPr lang="cs-CZ" dirty="0"/>
              <a:t>ě</a:t>
            </a:r>
            <a:r>
              <a:rPr lang="en-US" dirty="0" err="1"/>
              <a:t>ch</a:t>
            </a:r>
            <a:r>
              <a:rPr lang="en-US" dirty="0"/>
              <a:t> 15</a:t>
            </a:r>
            <a:r>
              <a:rPr lang="cs-CZ" dirty="0"/>
              <a:t>-</a:t>
            </a:r>
            <a:r>
              <a:rPr lang="en-US" dirty="0" err="1"/>
              <a:t>ti</a:t>
            </a:r>
            <a:r>
              <a:rPr lang="en-US" dirty="0"/>
              <a:t> p</a:t>
            </a:r>
            <a:r>
              <a:rPr lang="cs-CZ" dirty="0" err="1"/>
              <a:t>ři</a:t>
            </a:r>
            <a:r>
              <a:rPr lang="en-US" dirty="0"/>
              <a:t>dan</a:t>
            </a:r>
            <a:r>
              <a:rPr lang="cs-CZ" dirty="0"/>
              <a:t>ý</a:t>
            </a:r>
            <a:r>
              <a:rPr lang="en-US" dirty="0" err="1"/>
              <a:t>ch</a:t>
            </a:r>
            <a:r>
              <a:rPr lang="en-US" dirty="0"/>
              <a:t> </a:t>
            </a:r>
            <a:r>
              <a:rPr lang="en-US" dirty="0" err="1"/>
              <a:t>vzadu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902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98331-96E6-ADE7-B771-865412EE0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747553-EBF1-0874-1CB4-8752068A0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JUMP</a:t>
            </a:r>
            <a:r>
              <a:rPr lang="sv-SE" dirty="0"/>
              <a:t> test Baumgarten vs. MFF astarGrid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DFB3B1D-F132-231D-3B15-5A81F4E29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Tohle je první</a:t>
            </a:r>
            <a:r>
              <a:rPr lang="en-US" dirty="0"/>
              <a:t> test</a:t>
            </a:r>
            <a:r>
              <a:rPr lang="cs-CZ" dirty="0"/>
              <a:t>, který ještě nebyl úplně ideální, </a:t>
            </a:r>
            <a:r>
              <a:rPr lang="cs-CZ" dirty="0" err="1"/>
              <a:t>gridSearch</a:t>
            </a:r>
            <a:r>
              <a:rPr lang="cs-CZ" dirty="0"/>
              <a:t> </a:t>
            </a:r>
            <a:r>
              <a:rPr lang="cs-CZ" dirty="0" err="1"/>
              <a:t>nědělal</a:t>
            </a:r>
            <a:r>
              <a:rPr lang="cs-CZ" dirty="0"/>
              <a:t> správně </a:t>
            </a:r>
            <a:r>
              <a:rPr lang="cs-CZ" dirty="0" err="1"/>
              <a:t>jumpy</a:t>
            </a:r>
            <a:r>
              <a:rPr lang="cs-CZ" dirty="0"/>
              <a:t>, když level nebyl dost vysoký + taky parametry podle mě nebyli ideálně nastavený, aby tvořil těžký levely: </a:t>
            </a:r>
          </a:p>
          <a:p>
            <a:pPr marL="0" indent="0">
              <a:buNone/>
            </a:pPr>
            <a:r>
              <a:rPr lang="cs-CZ" dirty="0"/>
              <a:t>parametry = (N=1,T=2,DT=2,DAP=5,DMP=7)</a:t>
            </a:r>
          </a:p>
          <a:p>
            <a:r>
              <a:rPr lang="cs-CZ" dirty="0"/>
              <a:t>Výsledky:</a:t>
            </a:r>
          </a:p>
          <a:p>
            <a:r>
              <a:rPr lang="en-US" dirty="0" err="1"/>
              <a:t>AStarGrid</a:t>
            </a:r>
            <a:r>
              <a:rPr lang="en-US" dirty="0"/>
              <a:t> </a:t>
            </a:r>
            <a:r>
              <a:rPr lang="en-US" dirty="0" err="1"/>
              <a:t>rychleji</a:t>
            </a:r>
            <a:r>
              <a:rPr lang="en-US" dirty="0"/>
              <a:t> </a:t>
            </a:r>
            <a:r>
              <a:rPr lang="en-US" dirty="0" err="1"/>
              <a:t>vylepšuje</a:t>
            </a:r>
            <a:r>
              <a:rPr lang="en-US" dirty="0"/>
              <a:t> fitness v </a:t>
            </a:r>
            <a:r>
              <a:rPr lang="en-US" dirty="0" err="1"/>
              <a:t>poměru</a:t>
            </a:r>
            <a:r>
              <a:rPr lang="en-US" dirty="0"/>
              <a:t> </a:t>
            </a:r>
            <a:r>
              <a:rPr lang="en-US" dirty="0" err="1"/>
              <a:t>počtu</a:t>
            </a:r>
            <a:r>
              <a:rPr lang="en-US" dirty="0"/>
              <a:t> </a:t>
            </a:r>
            <a:r>
              <a:rPr lang="en-US" dirty="0" err="1"/>
              <a:t>iterací</a:t>
            </a:r>
            <a:r>
              <a:rPr lang="en-US" dirty="0"/>
              <a:t> (+ 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reálně</a:t>
            </a:r>
            <a:r>
              <a:rPr lang="en-US" dirty="0"/>
              <a:t> </a:t>
            </a:r>
            <a:r>
              <a:rPr lang="en-US" dirty="0" err="1"/>
              <a:t>jsem</a:t>
            </a:r>
            <a:r>
              <a:rPr lang="en-US" dirty="0"/>
              <a:t> </a:t>
            </a:r>
            <a:r>
              <a:rPr lang="en-US" dirty="0" err="1"/>
              <a:t>měl</a:t>
            </a:r>
            <a:r>
              <a:rPr lang="en-US" dirty="0"/>
              <a:t> ten test s </a:t>
            </a:r>
            <a:r>
              <a:rPr lang="en-US" dirty="0" err="1"/>
              <a:t>Baumgartenem</a:t>
            </a:r>
            <a:r>
              <a:rPr lang="en-US" dirty="0"/>
              <a:t> </a:t>
            </a:r>
            <a:r>
              <a:rPr lang="en-US" dirty="0" err="1"/>
              <a:t>hotov</a:t>
            </a:r>
            <a:r>
              <a:rPr lang="cs-CZ" dirty="0"/>
              <a:t>ý</a:t>
            </a:r>
            <a:r>
              <a:rPr lang="en-US" dirty="0"/>
              <a:t> za 24 </a:t>
            </a:r>
            <a:r>
              <a:rPr lang="en-US" dirty="0" err="1"/>
              <a:t>hodin</a:t>
            </a:r>
            <a:r>
              <a:rPr lang="en-US" dirty="0"/>
              <a:t> a s </a:t>
            </a:r>
            <a:r>
              <a:rPr lang="en-US" dirty="0" err="1"/>
              <a:t>AStarGridem</a:t>
            </a:r>
            <a:r>
              <a:rPr lang="en-US" dirty="0"/>
              <a:t> za </a:t>
            </a:r>
            <a:r>
              <a:rPr lang="en-US" dirty="0" err="1"/>
              <a:t>hodinu</a:t>
            </a:r>
            <a:r>
              <a:rPr lang="en-US" dirty="0"/>
              <a:t>) </a:t>
            </a:r>
            <a:endParaRPr lang="cs-CZ" dirty="0"/>
          </a:p>
          <a:p>
            <a:r>
              <a:rPr lang="en-US" dirty="0" err="1"/>
              <a:t>celkově</a:t>
            </a:r>
            <a:r>
              <a:rPr lang="en-US" dirty="0"/>
              <a:t> </a:t>
            </a:r>
            <a:r>
              <a:rPr lang="en-US" dirty="0" err="1"/>
              <a:t>dává</a:t>
            </a:r>
            <a:r>
              <a:rPr lang="en-US" dirty="0"/>
              <a:t> v </a:t>
            </a:r>
            <a:r>
              <a:rPr lang="en-US" dirty="0" err="1"/>
              <a:t>průměru</a:t>
            </a:r>
            <a:r>
              <a:rPr lang="en-US" dirty="0"/>
              <a:t> </a:t>
            </a:r>
            <a:r>
              <a:rPr lang="en-US" dirty="0" err="1"/>
              <a:t>lepší</a:t>
            </a:r>
            <a:r>
              <a:rPr lang="en-US" dirty="0"/>
              <a:t> fitness. Baumgarten </a:t>
            </a:r>
            <a:r>
              <a:rPr lang="en-US" dirty="0" err="1"/>
              <a:t>sice</a:t>
            </a:r>
            <a:r>
              <a:rPr lang="en-US" dirty="0"/>
              <a:t> </a:t>
            </a:r>
            <a:r>
              <a:rPr lang="en-US" dirty="0" err="1"/>
              <a:t>zbytečně</a:t>
            </a:r>
            <a:r>
              <a:rPr lang="en-US" dirty="0"/>
              <a:t> </a:t>
            </a:r>
            <a:r>
              <a:rPr lang="en-US" dirty="0" err="1"/>
              <a:t>moc</a:t>
            </a:r>
            <a:r>
              <a:rPr lang="en-US" dirty="0"/>
              <a:t> </a:t>
            </a:r>
            <a:r>
              <a:rPr lang="en-US" dirty="0" err="1"/>
              <a:t>skáče</a:t>
            </a:r>
            <a:r>
              <a:rPr lang="en-US" dirty="0"/>
              <a:t>, ale </a:t>
            </a:r>
            <a:r>
              <a:rPr lang="en-US" dirty="0" err="1"/>
              <a:t>řekl</a:t>
            </a:r>
            <a:r>
              <a:rPr lang="en-US" dirty="0"/>
              <a:t> </a:t>
            </a:r>
            <a:r>
              <a:rPr lang="en-US" dirty="0" err="1"/>
              <a:t>bych</a:t>
            </a:r>
            <a:r>
              <a:rPr lang="en-US" dirty="0"/>
              <a:t> </a:t>
            </a:r>
            <a:r>
              <a:rPr lang="en-US" dirty="0" err="1"/>
              <a:t>že</a:t>
            </a:r>
            <a:r>
              <a:rPr lang="en-US" dirty="0"/>
              <a:t> mu to </a:t>
            </a:r>
            <a:r>
              <a:rPr lang="en-US" dirty="0" err="1"/>
              <a:t>nepomohlo</a:t>
            </a:r>
            <a:r>
              <a:rPr lang="en-US" dirty="0"/>
              <a:t>, </a:t>
            </a:r>
            <a:r>
              <a:rPr lang="en-US" dirty="0" err="1"/>
              <a:t>protože</a:t>
            </a:r>
            <a:r>
              <a:rPr lang="en-US" dirty="0"/>
              <a:t> </a:t>
            </a:r>
            <a:r>
              <a:rPr lang="cs-CZ" dirty="0"/>
              <a:t>nakonec dokončí</a:t>
            </a:r>
            <a:r>
              <a:rPr lang="en-US" dirty="0"/>
              <a:t> </a:t>
            </a:r>
            <a:r>
              <a:rPr lang="en-US" dirty="0" err="1"/>
              <a:t>méně</a:t>
            </a:r>
            <a:r>
              <a:rPr lang="en-US" dirty="0"/>
              <a:t> </a:t>
            </a:r>
            <a:r>
              <a:rPr lang="en-US" dirty="0" err="1"/>
              <a:t>levelů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8179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126EA8-6F8D-0CD2-2FAD-05ABAA11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JUMP</a:t>
            </a:r>
            <a:r>
              <a:rPr lang="sv-SE" dirty="0"/>
              <a:t> test Baumgarten vs. MFF astarGrid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C08821-F78F-3349-E115-6BD8909123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111" y="1840410"/>
            <a:ext cx="8613889" cy="501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D8BB53CC-2C61-27E3-FCC2-123243A13E0E}"/>
              </a:ext>
            </a:extLst>
          </p:cNvPr>
          <p:cNvSpPr txBox="1"/>
          <p:nvPr/>
        </p:nvSpPr>
        <p:spPr>
          <a:xfrm>
            <a:off x="321163" y="2108691"/>
            <a:ext cx="31737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 err="1"/>
              <a:t>AstarGrid</a:t>
            </a:r>
            <a:r>
              <a:rPr lang="cs-CZ" dirty="0"/>
              <a:t>= původní test,</a:t>
            </a:r>
          </a:p>
          <a:p>
            <a:r>
              <a:rPr lang="cs-CZ" dirty="0"/>
              <a:t>Bez </a:t>
            </a:r>
            <a:r>
              <a:rPr lang="cs-CZ" dirty="0" err="1"/>
              <a:t>fixnutých</a:t>
            </a:r>
            <a:r>
              <a:rPr lang="cs-CZ" dirty="0"/>
              <a:t> </a:t>
            </a:r>
            <a:r>
              <a:rPr lang="cs-CZ" dirty="0" err="1"/>
              <a:t>jumpů</a:t>
            </a:r>
            <a:endParaRPr lang="cs-CZ" dirty="0"/>
          </a:p>
          <a:p>
            <a:endParaRPr lang="cs-CZ" dirty="0"/>
          </a:p>
          <a:p>
            <a:r>
              <a:rPr lang="cs-CZ" dirty="0"/>
              <a:t>AstarGrid2 = test s </a:t>
            </a:r>
            <a:r>
              <a:rPr lang="cs-CZ" dirty="0" err="1"/>
              <a:t>fixnutými</a:t>
            </a:r>
            <a:endParaRPr lang="cs-CZ" dirty="0"/>
          </a:p>
          <a:p>
            <a:r>
              <a:rPr lang="cs-CZ" dirty="0" err="1"/>
              <a:t>Jumpy</a:t>
            </a:r>
            <a:r>
              <a:rPr lang="cs-CZ" dirty="0"/>
              <a:t> </a:t>
            </a:r>
            <a:r>
              <a:rPr lang="en-US" dirty="0"/>
              <a:t>(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sp</a:t>
            </a:r>
            <a:r>
              <a:rPr lang="cs-CZ" dirty="0" err="1"/>
              <a:t>íš</a:t>
            </a:r>
            <a:r>
              <a:rPr lang="cs-CZ" dirty="0"/>
              <a:t> levely</a:t>
            </a:r>
            <a:r>
              <a:rPr lang="en-US" dirty="0"/>
              <a:t>)</a:t>
            </a:r>
            <a:endParaRPr lang="cs-CZ" dirty="0"/>
          </a:p>
          <a:p>
            <a:r>
              <a:rPr lang="cs-CZ" dirty="0"/>
              <a:t>S parametry:</a:t>
            </a:r>
            <a:br>
              <a:rPr lang="cs-CZ" dirty="0"/>
            </a:br>
            <a:r>
              <a:rPr lang="cs-CZ" dirty="0"/>
              <a:t>(N=1,T=2,DT=2,DAP=5,DMP=7)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((S t</a:t>
            </a:r>
            <a:r>
              <a:rPr lang="cs-CZ" dirty="0" err="1"/>
              <a:t>ěmito</a:t>
            </a:r>
            <a:r>
              <a:rPr lang="cs-CZ" dirty="0"/>
              <a:t> parametry to vypadá,</a:t>
            </a:r>
          </a:p>
          <a:p>
            <a:r>
              <a:rPr lang="pl-PL" dirty="0"/>
              <a:t>ze jsou ty</a:t>
            </a:r>
            <a:r>
              <a:rPr lang="en-US" dirty="0"/>
              <a:t>to</a:t>
            </a:r>
            <a:r>
              <a:rPr lang="pl-PL" dirty="0"/>
              <a:t> parametry lep</a:t>
            </a:r>
            <a:r>
              <a:rPr lang="cs-CZ" dirty="0" err="1"/>
              <a:t>ší</a:t>
            </a:r>
            <a:r>
              <a:rPr lang="cs-CZ" dirty="0"/>
              <a:t>,</a:t>
            </a:r>
            <a:r>
              <a:rPr lang="pl-PL" dirty="0"/>
              <a:t> ale podle mě jen zbytečně moc skáče, protože se až moc drží cesty.</a:t>
            </a:r>
            <a:r>
              <a:rPr lang="en-US" dirty="0"/>
              <a:t>))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13113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4F09E-8E0D-E7B8-9504-0CA6837A0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85B1FB-ADF9-4282-5026-F7C735046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JUMP</a:t>
            </a:r>
            <a:r>
              <a:rPr lang="sv-SE" dirty="0"/>
              <a:t> test Baumgarten vs. MFF astarGrid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D10F56-7316-2D26-AE22-09389DF28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45" y="1923012"/>
            <a:ext cx="2903898" cy="4903700"/>
          </a:xfrm>
        </p:spPr>
        <p:txBody>
          <a:bodyPr>
            <a:normAutofit/>
          </a:bodyPr>
          <a:lstStyle/>
          <a:p>
            <a:r>
              <a:rPr lang="en-US" dirty="0" err="1"/>
              <a:t>AStarGrid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AStarGrid2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9C7079DC-7088-6EFB-BB54-5DC18E0E9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494" y="1878852"/>
            <a:ext cx="8912506" cy="214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DFA67DE0-9A8D-E8C0-F7DB-E95B8B409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143" y="4679433"/>
            <a:ext cx="8912679" cy="214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364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5498E-C901-E3DC-CF27-AAA7CE9A6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73EB63-3DCF-7CF4-9B81-8BA811506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JUMP</a:t>
            </a:r>
            <a:r>
              <a:rPr lang="sv-SE" dirty="0"/>
              <a:t> test Baumgarten vs. MFF astarGrid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C15423-C213-C21F-D52B-AFF5B4E9C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45" y="1923012"/>
            <a:ext cx="2903898" cy="4903700"/>
          </a:xfrm>
        </p:spPr>
        <p:txBody>
          <a:bodyPr>
            <a:normAutofit/>
          </a:bodyPr>
          <a:lstStyle/>
          <a:p>
            <a:r>
              <a:rPr lang="en-US" dirty="0"/>
              <a:t>Baumgarten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CEFF1C41-7937-B716-E3D1-E5AB7D019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45" y="2449586"/>
            <a:ext cx="11843648" cy="2852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304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84C18-FC98-AAB3-6DCE-9CDC6AEEC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8EC032-630A-2C1E-9FF9-77596266D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JUMP</a:t>
            </a:r>
            <a:r>
              <a:rPr lang="sv-SE" dirty="0"/>
              <a:t> test Baumgarten vs. MFF astarGrid</a:t>
            </a:r>
            <a:r>
              <a:rPr lang="cs-CZ" dirty="0"/>
              <a:t> s jinými parametry</a:t>
            </a:r>
            <a:endParaRPr lang="en-US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024D998C-2657-013E-2D04-2F1BA97B506E}"/>
              </a:ext>
            </a:extLst>
          </p:cNvPr>
          <p:cNvSpPr txBox="1"/>
          <p:nvPr/>
        </p:nvSpPr>
        <p:spPr>
          <a:xfrm>
            <a:off x="321163" y="2108691"/>
            <a:ext cx="3173752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 err="1"/>
              <a:t>AstarGrid</a:t>
            </a:r>
            <a:r>
              <a:rPr lang="cs-CZ" dirty="0"/>
              <a:t>= původní test,</a:t>
            </a:r>
          </a:p>
          <a:p>
            <a:r>
              <a:rPr lang="cs-CZ" dirty="0"/>
              <a:t>Bez </a:t>
            </a:r>
            <a:r>
              <a:rPr lang="cs-CZ" dirty="0" err="1"/>
              <a:t>fixnutých</a:t>
            </a:r>
            <a:r>
              <a:rPr lang="cs-CZ" dirty="0"/>
              <a:t> </a:t>
            </a:r>
            <a:r>
              <a:rPr lang="cs-CZ" dirty="0" err="1"/>
              <a:t>jumpů</a:t>
            </a:r>
            <a:endParaRPr lang="cs-CZ" dirty="0"/>
          </a:p>
          <a:p>
            <a:endParaRPr lang="cs-CZ" dirty="0"/>
          </a:p>
          <a:p>
            <a:r>
              <a:rPr lang="cs-CZ" dirty="0"/>
              <a:t>AstarGrid3 = test s </a:t>
            </a:r>
            <a:r>
              <a:rPr lang="cs-CZ" dirty="0" err="1"/>
              <a:t>fixnutými</a:t>
            </a:r>
            <a:endParaRPr lang="cs-CZ" dirty="0"/>
          </a:p>
          <a:p>
            <a:r>
              <a:rPr lang="cs-CZ" dirty="0" err="1"/>
              <a:t>Jumpy</a:t>
            </a:r>
            <a:r>
              <a:rPr lang="cs-CZ" dirty="0"/>
              <a:t> </a:t>
            </a:r>
            <a:r>
              <a:rPr lang="en-US" dirty="0"/>
              <a:t>(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sp</a:t>
            </a:r>
            <a:r>
              <a:rPr lang="cs-CZ" dirty="0" err="1"/>
              <a:t>íš</a:t>
            </a:r>
            <a:r>
              <a:rPr lang="cs-CZ" dirty="0"/>
              <a:t> levely</a:t>
            </a:r>
            <a:r>
              <a:rPr lang="en-US" dirty="0"/>
              <a:t>)</a:t>
            </a:r>
            <a:r>
              <a:rPr lang="cs-CZ" dirty="0"/>
              <a:t> s parametry:</a:t>
            </a:r>
            <a:br>
              <a:rPr lang="cs-CZ" dirty="0"/>
            </a:br>
            <a:endParaRPr lang="en-US" dirty="0"/>
          </a:p>
          <a:p>
            <a:r>
              <a:rPr lang="en-US" sz="1600" dirty="0"/>
              <a:t>(N=2,T=2,DT=1,DAP=20,DMP=7)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431643F-C234-E1DF-3C31-7F8A4F709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547" y="1721587"/>
            <a:ext cx="7648127" cy="513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102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3F78-B7A0-CD81-24BC-B1E2A7F8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50569E-B0DE-B434-E530-81999E7A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JUMP</a:t>
            </a:r>
            <a:r>
              <a:rPr lang="sv-SE" dirty="0"/>
              <a:t> test Baumgarten vs. MFF astarGrid</a:t>
            </a:r>
            <a:r>
              <a:rPr lang="cs-CZ" dirty="0"/>
              <a:t> s jinými parametry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7440AB-511D-269F-0792-5C78FF05E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45" y="1923012"/>
            <a:ext cx="2903898" cy="4903700"/>
          </a:xfrm>
        </p:spPr>
        <p:txBody>
          <a:bodyPr>
            <a:normAutofit/>
          </a:bodyPr>
          <a:lstStyle/>
          <a:p>
            <a:r>
              <a:rPr lang="cs-CZ" dirty="0" err="1"/>
              <a:t>AStarGrid</a:t>
            </a:r>
            <a:r>
              <a:rPr lang="en-US" dirty="0"/>
              <a:t>3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53DB5F44-02CF-CBA5-05CB-A308E7E1F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41" y="2711352"/>
            <a:ext cx="11494836" cy="276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9573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873A1-950F-C4E2-FED7-6CFAB7ED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2C4EB2-BE58-59BB-C8C3-3E45E29FE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KRYS</a:t>
            </a:r>
            <a:r>
              <a:rPr lang="cs-CZ" dirty="0"/>
              <a:t> JUMP</a:t>
            </a:r>
            <a:r>
              <a:rPr lang="sv-SE" dirty="0"/>
              <a:t> test Baumgarten vs. MFF astarGrid</a:t>
            </a:r>
            <a:endParaRPr lang="en-US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E34FF3A6-664B-A238-9FC6-A7D215C29F78}"/>
              </a:ext>
            </a:extLst>
          </p:cNvPr>
          <p:cNvSpPr txBox="1"/>
          <p:nvPr/>
        </p:nvSpPr>
        <p:spPr>
          <a:xfrm>
            <a:off x="321163" y="2108691"/>
            <a:ext cx="421156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/>
              <a:t>Zkusil jsem udělat </a:t>
            </a:r>
            <a:r>
              <a:rPr lang="cs-CZ" dirty="0" err="1"/>
              <a:t>jump</a:t>
            </a:r>
            <a:r>
              <a:rPr lang="cs-CZ" dirty="0"/>
              <a:t>-test na generátoru z krys levelu, protože z té </a:t>
            </a:r>
          </a:p>
          <a:p>
            <a:r>
              <a:rPr lang="cs-CZ" dirty="0"/>
              <a:t>orig-1-1 vychází prostě jen furt ty stejné levely</a:t>
            </a:r>
          </a:p>
          <a:p>
            <a:endParaRPr lang="cs-CZ" dirty="0"/>
          </a:p>
          <a:p>
            <a:r>
              <a:rPr lang="cs-CZ" dirty="0"/>
              <a:t>data pro </a:t>
            </a:r>
            <a:r>
              <a:rPr lang="cs-CZ" dirty="0" err="1"/>
              <a:t>baumgartena</a:t>
            </a:r>
            <a:r>
              <a:rPr lang="cs-CZ" dirty="0"/>
              <a:t> jsou </a:t>
            </a:r>
            <a:r>
              <a:rPr lang="cs-CZ" dirty="0" err="1"/>
              <a:t>nicmoc</a:t>
            </a:r>
            <a:r>
              <a:rPr lang="cs-CZ" dirty="0"/>
              <a:t> -</a:t>
            </a:r>
            <a:r>
              <a:rPr lang="en-US" dirty="0"/>
              <a:t>&gt; u</a:t>
            </a:r>
            <a:r>
              <a:rPr lang="cs-CZ" dirty="0"/>
              <a:t>dělal</a:t>
            </a:r>
            <a:r>
              <a:rPr lang="en-US" dirty="0"/>
              <a:t> </a:t>
            </a:r>
            <a:r>
              <a:rPr lang="en-US" dirty="0" err="1"/>
              <a:t>jsem</a:t>
            </a:r>
            <a:r>
              <a:rPr lang="cs-CZ" dirty="0"/>
              <a:t> jen asi 55 generaci místo 100 generaci, protože mi t</a:t>
            </a:r>
            <a:r>
              <a:rPr lang="en-US" dirty="0" err="1"/>
              <a:t>en</a:t>
            </a:r>
            <a:r>
              <a:rPr lang="en-US" dirty="0"/>
              <a:t> test b</a:t>
            </a:r>
            <a:r>
              <a:rPr lang="cs-CZ" dirty="0" err="1"/>
              <a:t>ěžel</a:t>
            </a:r>
            <a:r>
              <a:rPr lang="cs-CZ" dirty="0"/>
              <a:t> dva dny. </a:t>
            </a:r>
          </a:p>
          <a:p>
            <a:endParaRPr lang="cs-CZ" dirty="0"/>
          </a:p>
          <a:p>
            <a:r>
              <a:rPr lang="cs-CZ" dirty="0"/>
              <a:t>Přišlo mi, že </a:t>
            </a:r>
            <a:r>
              <a:rPr lang="cs-CZ" dirty="0" err="1"/>
              <a:t>Baumgarten</a:t>
            </a:r>
            <a:r>
              <a:rPr lang="cs-CZ" dirty="0"/>
              <a:t> se strašně moc zasekával a skákal furt tam a zpátky možná proto ty výsledky vypadají takto. Taky generátor možná preferoval vylepšovat levely, kde se zaseknul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55BFC6F-EE1A-908B-61F2-86BAE7661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310" y="1788420"/>
            <a:ext cx="7503690" cy="5061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8831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5851F-5821-0FF6-FA48-28E918DC0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6FDDAB-8AEB-9A1A-64CE-D0366C6F5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KRYS</a:t>
            </a:r>
            <a:r>
              <a:rPr lang="cs-CZ" dirty="0"/>
              <a:t> JUMP</a:t>
            </a:r>
            <a:r>
              <a:rPr lang="sv-SE" dirty="0"/>
              <a:t> test Baumgarten vs. MFF astarGrid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4FB8350-E754-6ACE-DC7F-8443C268C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45" y="1923012"/>
            <a:ext cx="2903898" cy="4903700"/>
          </a:xfrm>
        </p:spPr>
        <p:txBody>
          <a:bodyPr>
            <a:normAutofit/>
          </a:bodyPr>
          <a:lstStyle/>
          <a:p>
            <a:r>
              <a:rPr lang="cs-CZ" dirty="0" err="1"/>
              <a:t>AStarGrid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tady</a:t>
            </a:r>
            <a:r>
              <a:rPr lang="en-US" dirty="0"/>
              <a:t> </a:t>
            </a:r>
            <a:r>
              <a:rPr lang="en-US" dirty="0" err="1"/>
              <a:t>jsou</a:t>
            </a:r>
            <a:r>
              <a:rPr lang="en-US" dirty="0"/>
              <a:t> ty </a:t>
            </a:r>
            <a:r>
              <a:rPr lang="en-US" dirty="0" err="1"/>
              <a:t>levely</a:t>
            </a:r>
            <a:r>
              <a:rPr lang="en-US" dirty="0"/>
              <a:t> dost </a:t>
            </a:r>
            <a:r>
              <a:rPr lang="en-US" dirty="0" err="1"/>
              <a:t>rozdilny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cs-CZ" dirty="0" err="1"/>
              <a:t>Baumgarten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C0409952-926B-E50C-833B-A720AB8D9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64" y="1970870"/>
            <a:ext cx="8920781" cy="2148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EA918021-0E11-F730-FAA8-658B5872F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502" y="4467894"/>
            <a:ext cx="9096253" cy="219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007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A7FD4-82A6-BF67-6D5D-4D1BF874A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78A8A5-EB11-5E91-EE26-6D468EB17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grid</a:t>
            </a:r>
            <a:r>
              <a:rPr lang="cs-CZ" dirty="0"/>
              <a:t> </a:t>
            </a:r>
            <a:r>
              <a:rPr lang="cs-CZ" dirty="0" err="1"/>
              <a:t>search</a:t>
            </a:r>
            <a:r>
              <a:rPr lang="cs-CZ" dirty="0"/>
              <a:t> - počet skoků bez dynamických prvků</a:t>
            </a:r>
            <a:endParaRPr lang="en-US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36C1FE0C-E2AA-3636-E88A-315475E2098A}"/>
              </a:ext>
            </a:extLst>
          </p:cNvPr>
          <p:cNvSpPr txBox="1"/>
          <p:nvPr/>
        </p:nvSpPr>
        <p:spPr>
          <a:xfrm>
            <a:off x="0" y="1792936"/>
            <a:ext cx="377942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/>
              <a:t>Zkoušel jsem dva způsoby:</a:t>
            </a:r>
            <a:br>
              <a:rPr lang="cs-CZ" dirty="0"/>
            </a:br>
            <a:r>
              <a:rPr lang="cs-CZ" dirty="0"/>
              <a:t>počítání skoků v kódu </a:t>
            </a:r>
            <a:r>
              <a:rPr lang="en-US" dirty="0"/>
              <a:t>(</a:t>
            </a:r>
            <a:r>
              <a:rPr lang="en-US" dirty="0" err="1"/>
              <a:t>CodeJumpCount</a:t>
            </a:r>
            <a:r>
              <a:rPr lang="en-US" dirty="0"/>
              <a:t>)</a:t>
            </a:r>
            <a:r>
              <a:rPr lang="cs-CZ" dirty="0"/>
              <a:t>+ analyzovat text output z </a:t>
            </a:r>
            <a:r>
              <a:rPr lang="cs-CZ" dirty="0" err="1"/>
              <a:t>grid</a:t>
            </a:r>
            <a:r>
              <a:rPr lang="cs-CZ" dirty="0"/>
              <a:t> </a:t>
            </a:r>
            <a:r>
              <a:rPr lang="cs-CZ" dirty="0" err="1"/>
              <a:t>searche</a:t>
            </a:r>
            <a:r>
              <a:rPr lang="en-US" dirty="0"/>
              <a:t> (Analyzer)</a:t>
            </a:r>
            <a:r>
              <a:rPr lang="cs-CZ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K</a:t>
            </a:r>
            <a:r>
              <a:rPr lang="cs-CZ" dirty="0" err="1"/>
              <a:t>ódové</a:t>
            </a:r>
            <a:r>
              <a:rPr lang="cs-CZ" dirty="0"/>
              <a:t> počítání moc nefungovalo u schodových struktur, protože se podle mě každý schod počítal jako </a:t>
            </a:r>
            <a:r>
              <a:rPr lang="cs-CZ" dirty="0" err="1"/>
              <a:t>jump</a:t>
            </a:r>
            <a:r>
              <a:rPr lang="cs-CZ" dirty="0"/>
              <a:t>, což se reálně neděje.</a:t>
            </a:r>
            <a:r>
              <a:rPr lang="en-US" dirty="0"/>
              <a:t> To </a:t>
            </a:r>
            <a:r>
              <a:rPr lang="en-US" dirty="0" err="1"/>
              <a:t>jsem</a:t>
            </a:r>
            <a:r>
              <a:rPr lang="en-US" dirty="0"/>
              <a:t> </a:t>
            </a:r>
            <a:endParaRPr lang="cs-CZ" dirty="0"/>
          </a:p>
          <a:p>
            <a:r>
              <a:rPr lang="en-US" dirty="0" err="1"/>
              <a:t>Zkou</a:t>
            </a:r>
            <a:r>
              <a:rPr lang="cs-CZ" dirty="0"/>
              <a:t>šel různě opravovat </a:t>
            </a:r>
            <a:r>
              <a:rPr lang="en-US" dirty="0"/>
              <a:t>(proto je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naho</a:t>
            </a:r>
            <a:r>
              <a:rPr lang="cs-CZ" dirty="0" err="1"/>
              <a:t>ře</a:t>
            </a:r>
            <a:r>
              <a:rPr lang="cs-CZ" dirty="0"/>
              <a:t>, ale </a:t>
            </a:r>
            <a:r>
              <a:rPr lang="en-US" dirty="0" err="1"/>
              <a:t>bylo</a:t>
            </a:r>
            <a:r>
              <a:rPr lang="en-US" dirty="0"/>
              <a:t> to </a:t>
            </a:r>
            <a:r>
              <a:rPr lang="en-US" dirty="0" err="1"/>
              <a:t>furt</a:t>
            </a:r>
            <a:r>
              <a:rPr lang="en-US" dirty="0"/>
              <a:t> </a:t>
            </a:r>
            <a:r>
              <a:rPr lang="en-US" dirty="0" err="1"/>
              <a:t>nicmoc</a:t>
            </a:r>
            <a:r>
              <a:rPr lang="en-US" dirty="0"/>
              <a:t>)</a:t>
            </a:r>
          </a:p>
          <a:p>
            <a:endParaRPr lang="cs-CZ" dirty="0"/>
          </a:p>
          <a:p>
            <a:r>
              <a:rPr lang="cs-CZ" dirty="0"/>
              <a:t>Jako </a:t>
            </a:r>
            <a:r>
              <a:rPr lang="cs-CZ" dirty="0" err="1"/>
              <a:t>jump</a:t>
            </a:r>
            <a:r>
              <a:rPr lang="cs-CZ" dirty="0"/>
              <a:t> v </a:t>
            </a:r>
            <a:r>
              <a:rPr lang="cs-CZ" dirty="0" err="1"/>
              <a:t>analyzeru</a:t>
            </a:r>
            <a:r>
              <a:rPr lang="cs-CZ" dirty="0"/>
              <a:t> se bere max 4x hned po sobě </a:t>
            </a:r>
            <a:r>
              <a:rPr lang="en-US" dirty="0"/>
              <a:t>(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sloupci</a:t>
            </a:r>
            <a:r>
              <a:rPr lang="en-US" dirty="0"/>
              <a:t>)</a:t>
            </a:r>
            <a:r>
              <a:rPr lang="cs-CZ" dirty="0"/>
              <a:t> stoupajících </a:t>
            </a:r>
            <a:r>
              <a:rPr lang="cs-CZ" dirty="0" err="1"/>
              <a:t>path</a:t>
            </a:r>
            <a:r>
              <a:rPr lang="cs-CZ" dirty="0"/>
              <a:t> </a:t>
            </a:r>
            <a:r>
              <a:rPr lang="en-US" dirty="0"/>
              <a:t>(</a:t>
            </a:r>
            <a:r>
              <a:rPr lang="cs-CZ" dirty="0"/>
              <a:t>symbol ‘■’</a:t>
            </a:r>
            <a:r>
              <a:rPr lang="en-US" dirty="0"/>
              <a:t>)</a:t>
            </a:r>
            <a:r>
              <a:rPr lang="cs-CZ" dirty="0"/>
              <a:t> a </a:t>
            </a:r>
            <a:r>
              <a:rPr lang="cs-CZ" dirty="0" err="1"/>
              <a:t>kdyz</a:t>
            </a:r>
            <a:r>
              <a:rPr lang="cs-CZ" dirty="0"/>
              <a:t> tam nastane tenhle </a:t>
            </a:r>
            <a:r>
              <a:rPr lang="cs-CZ" dirty="0" err="1"/>
              <a:t>pattern</a:t>
            </a:r>
            <a:r>
              <a:rPr lang="cs-CZ" dirty="0"/>
              <a:t>: ■■■ </a:t>
            </a:r>
            <a:endParaRPr lang="en-US" dirty="0"/>
          </a:p>
          <a:p>
            <a:r>
              <a:rPr lang="en-US" dirty="0"/>
              <a:t>			   </a:t>
            </a:r>
            <a:r>
              <a:rPr lang="cs-CZ" dirty="0"/>
              <a:t>X-X</a:t>
            </a:r>
            <a:r>
              <a:rPr lang="en-US" dirty="0"/>
              <a:t>	(</a:t>
            </a:r>
            <a:r>
              <a:rPr lang="en-US" dirty="0" err="1"/>
              <a:t>withoutOneGaps</a:t>
            </a:r>
            <a:r>
              <a:rPr lang="en-US" dirty="0"/>
              <a:t> to </a:t>
            </a:r>
            <a:r>
              <a:rPr lang="en-US" dirty="0" err="1"/>
              <a:t>nepouziva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Obrázek 6" descr="Obsah obrázku text, snímek obrazovky, Vykreslený graf, Barevnost&#10;&#10;Popis byl vytvořen automaticky">
            <a:extLst>
              <a:ext uri="{FF2B5EF4-FFF2-40B4-BE49-F238E27FC236}">
                <a16:creationId xmlns:a16="http://schemas.microsoft.com/office/drawing/2014/main" id="{C5A498C8-E474-FFA1-5065-FE4A70CC3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424" y="1884990"/>
            <a:ext cx="8412576" cy="489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079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77A39-16F0-65FD-57F4-9C316C0CE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516CA0-4232-2BDD-40E6-9F3AB59F8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grid</a:t>
            </a:r>
            <a:r>
              <a:rPr lang="cs-CZ" dirty="0"/>
              <a:t> </a:t>
            </a:r>
            <a:r>
              <a:rPr lang="cs-CZ" dirty="0" err="1"/>
              <a:t>search</a:t>
            </a:r>
            <a:r>
              <a:rPr lang="cs-CZ" dirty="0"/>
              <a:t> - počet skoků bez dynamických prvků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B71326-0C60-E96E-9B3A-069BABCB0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45" y="1923012"/>
            <a:ext cx="2903898" cy="4903700"/>
          </a:xfrm>
        </p:spPr>
        <p:txBody>
          <a:bodyPr>
            <a:normAutofit/>
          </a:bodyPr>
          <a:lstStyle/>
          <a:p>
            <a:r>
              <a:rPr lang="cs-CZ" dirty="0" err="1"/>
              <a:t>Grid</a:t>
            </a:r>
            <a:r>
              <a:rPr lang="cs-CZ" dirty="0"/>
              <a:t> </a:t>
            </a:r>
            <a:r>
              <a:rPr lang="cs-CZ" dirty="0" err="1"/>
              <a:t>Jump</a:t>
            </a:r>
            <a:r>
              <a:rPr lang="cs-CZ" dirty="0"/>
              <a:t> by </a:t>
            </a:r>
            <a:r>
              <a:rPr lang="cs-CZ" dirty="0" err="1"/>
              <a:t>code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cs-CZ" dirty="0" err="1"/>
              <a:t>Grid</a:t>
            </a:r>
            <a:r>
              <a:rPr lang="cs-CZ" dirty="0"/>
              <a:t> </a:t>
            </a:r>
            <a:r>
              <a:rPr lang="cs-CZ" dirty="0" err="1"/>
              <a:t>Jump</a:t>
            </a:r>
            <a:r>
              <a:rPr lang="cs-CZ" dirty="0"/>
              <a:t> </a:t>
            </a:r>
            <a:r>
              <a:rPr lang="cs-CZ" dirty="0" err="1"/>
              <a:t>analyzer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8FAC4D84-433C-1EF6-5F6E-986E0BA2B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813" y="2002008"/>
            <a:ext cx="9192129" cy="2214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84F5CEB-8695-73D3-09A7-536545920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474" y="4577531"/>
            <a:ext cx="8924326" cy="2148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4625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D8C6B-D473-32E9-CE45-347919286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7A2459-CF53-957D-AFA3-B15931A35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grid</a:t>
            </a:r>
            <a:r>
              <a:rPr lang="cs-CZ" dirty="0"/>
              <a:t> </a:t>
            </a:r>
            <a:r>
              <a:rPr lang="cs-CZ" dirty="0" err="1"/>
              <a:t>search</a:t>
            </a:r>
            <a:r>
              <a:rPr lang="cs-CZ" dirty="0"/>
              <a:t> - počet skoků bez dynamických prvků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6F75D1-F211-48EE-838E-1A51F08B4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45" y="1923012"/>
            <a:ext cx="2903898" cy="4903700"/>
          </a:xfrm>
        </p:spPr>
        <p:txBody>
          <a:bodyPr>
            <a:normAutofit/>
          </a:bodyPr>
          <a:lstStyle/>
          <a:p>
            <a:r>
              <a:rPr lang="cs-CZ" dirty="0" err="1"/>
              <a:t>Grid</a:t>
            </a:r>
            <a:r>
              <a:rPr lang="cs-CZ" dirty="0"/>
              <a:t> </a:t>
            </a:r>
            <a:r>
              <a:rPr lang="cs-CZ" dirty="0" err="1"/>
              <a:t>Jump</a:t>
            </a:r>
            <a:r>
              <a:rPr lang="cs-CZ" dirty="0"/>
              <a:t> </a:t>
            </a:r>
            <a:r>
              <a:rPr lang="cs-CZ" dirty="0" err="1"/>
              <a:t>analyzer</a:t>
            </a:r>
            <a:endParaRPr lang="cs-CZ" dirty="0"/>
          </a:p>
          <a:p>
            <a:pPr marL="0" indent="0">
              <a:buNone/>
            </a:pPr>
            <a:r>
              <a:rPr lang="cs-CZ" dirty="0" err="1"/>
              <a:t>Without</a:t>
            </a:r>
            <a:r>
              <a:rPr lang="cs-CZ" dirty="0"/>
              <a:t> </a:t>
            </a:r>
            <a:r>
              <a:rPr lang="cs-CZ" dirty="0" err="1"/>
              <a:t>one</a:t>
            </a:r>
            <a:r>
              <a:rPr lang="cs-CZ" dirty="0"/>
              <a:t> </a:t>
            </a:r>
            <a:r>
              <a:rPr lang="cs-CZ" dirty="0" err="1"/>
              <a:t>gaps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(za m</a:t>
            </a:r>
            <a:r>
              <a:rPr lang="cs-CZ" dirty="0"/>
              <a:t>ě </a:t>
            </a:r>
            <a:r>
              <a:rPr lang="cs-CZ" dirty="0" err="1"/>
              <a:t>magnum</a:t>
            </a:r>
            <a:r>
              <a:rPr lang="cs-CZ" dirty="0"/>
              <a:t> opus</a:t>
            </a:r>
            <a:r>
              <a:rPr lang="en-US" dirty="0"/>
              <a:t>)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72A23FF2-9591-118B-BC7D-CB9A5670B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19" y="3304648"/>
            <a:ext cx="11781080" cy="2843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1189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DC564-07A8-82A1-32E2-27F9AE569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57F28C-D97F-3275-9CB7-E8B090AA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KRYS</a:t>
            </a:r>
            <a:r>
              <a:rPr lang="cs-CZ" dirty="0"/>
              <a:t> </a:t>
            </a:r>
            <a:r>
              <a:rPr lang="cs-CZ" dirty="0" err="1"/>
              <a:t>grid</a:t>
            </a:r>
            <a:r>
              <a:rPr lang="cs-CZ" dirty="0"/>
              <a:t> </a:t>
            </a:r>
            <a:r>
              <a:rPr lang="cs-CZ" dirty="0" err="1"/>
              <a:t>search</a:t>
            </a:r>
            <a:r>
              <a:rPr lang="cs-CZ" dirty="0"/>
              <a:t> - počet skoků bez dynamických prvků 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2A69454-3C07-FB90-D7A7-599C473B6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45" y="1923012"/>
            <a:ext cx="2781105" cy="4903700"/>
          </a:xfrm>
        </p:spPr>
        <p:txBody>
          <a:bodyPr>
            <a:normAutofit/>
          </a:bodyPr>
          <a:lstStyle/>
          <a:p>
            <a:r>
              <a:rPr lang="cs-CZ" dirty="0"/>
              <a:t>Krys </a:t>
            </a:r>
            <a:r>
              <a:rPr lang="cs-CZ" dirty="0" err="1"/>
              <a:t>Grid</a:t>
            </a:r>
            <a:r>
              <a:rPr lang="cs-CZ" dirty="0"/>
              <a:t> </a:t>
            </a:r>
            <a:r>
              <a:rPr lang="cs-CZ" dirty="0" err="1"/>
              <a:t>Jump</a:t>
            </a:r>
            <a:r>
              <a:rPr lang="cs-CZ" dirty="0"/>
              <a:t> </a:t>
            </a:r>
            <a:r>
              <a:rPr lang="cs-CZ" dirty="0" err="1"/>
              <a:t>analyzer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cs-CZ" dirty="0"/>
              <a:t>Krys </a:t>
            </a:r>
            <a:r>
              <a:rPr lang="cs-CZ" dirty="0" err="1"/>
              <a:t>Grid</a:t>
            </a:r>
            <a:r>
              <a:rPr lang="cs-CZ" dirty="0"/>
              <a:t> </a:t>
            </a:r>
            <a:r>
              <a:rPr lang="cs-CZ" dirty="0" err="1"/>
              <a:t>Jump</a:t>
            </a:r>
            <a:r>
              <a:rPr lang="cs-CZ" dirty="0"/>
              <a:t> </a:t>
            </a:r>
            <a:r>
              <a:rPr lang="cs-CZ" dirty="0" err="1"/>
              <a:t>analyzer</a:t>
            </a:r>
            <a:endParaRPr lang="cs-CZ" dirty="0"/>
          </a:p>
          <a:p>
            <a:pPr marL="0" indent="0">
              <a:buNone/>
            </a:pPr>
            <a:r>
              <a:rPr lang="cs-CZ" dirty="0" err="1"/>
              <a:t>Without</a:t>
            </a:r>
            <a:r>
              <a:rPr lang="cs-CZ" dirty="0"/>
              <a:t> </a:t>
            </a:r>
            <a:r>
              <a:rPr lang="cs-CZ" dirty="0" err="1"/>
              <a:t>one</a:t>
            </a:r>
            <a:r>
              <a:rPr lang="cs-CZ" dirty="0"/>
              <a:t> </a:t>
            </a:r>
            <a:r>
              <a:rPr lang="cs-CZ" dirty="0" err="1"/>
              <a:t>gaps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D5BAC085-0A14-E969-772C-433F2F787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562" y="1923012"/>
            <a:ext cx="9212438" cy="2223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>
            <a:extLst>
              <a:ext uri="{FF2B5EF4-FFF2-40B4-BE49-F238E27FC236}">
                <a16:creationId xmlns:a16="http://schemas.microsoft.com/office/drawing/2014/main" id="{45424A5D-7FAC-6CC8-6ADB-85AB7CD36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350" y="4368908"/>
            <a:ext cx="9134650" cy="220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618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C32CB-FBCE-CF7C-65A2-5361632A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5DA0CD-234B-DDB8-8108-70A1A5603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Run-TIMe</a:t>
            </a:r>
            <a:r>
              <a:rPr lang="en-US" dirty="0"/>
              <a:t> – </a:t>
            </a:r>
            <a:r>
              <a:rPr lang="en-US" dirty="0" err="1"/>
              <a:t>AsTARGRID</a:t>
            </a:r>
            <a:r>
              <a:rPr lang="en-US" dirty="0"/>
              <a:t> VS ASTAR VS BAUMGARTEN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D2DB800-F78C-3C42-186D-4E0676E8A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709" y="1933128"/>
            <a:ext cx="8472810" cy="486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8007AA7D-5631-1B8C-A360-4A6C8C260E11}"/>
              </a:ext>
            </a:extLst>
          </p:cNvPr>
          <p:cNvSpPr txBox="1"/>
          <p:nvPr/>
        </p:nvSpPr>
        <p:spPr>
          <a:xfrm>
            <a:off x="0" y="2084133"/>
            <a:ext cx="383370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/>
              <a:t>Zvláštní výsledky</a:t>
            </a:r>
          </a:p>
          <a:p>
            <a:endParaRPr lang="cs-CZ" dirty="0"/>
          </a:p>
          <a:p>
            <a:endParaRPr lang="cs-CZ" dirty="0"/>
          </a:p>
          <a:p>
            <a:r>
              <a:rPr lang="en-US" dirty="0"/>
              <a:t>Baumgarten je </a:t>
            </a:r>
            <a:r>
              <a:rPr lang="en-US" dirty="0" err="1"/>
              <a:t>celkov</a:t>
            </a:r>
            <a:r>
              <a:rPr lang="cs-CZ" dirty="0"/>
              <a:t>ě</a:t>
            </a:r>
            <a:r>
              <a:rPr lang="en-US" dirty="0"/>
              <a:t> </a:t>
            </a:r>
            <a:r>
              <a:rPr lang="en-US" dirty="0" err="1"/>
              <a:t>pomal</a:t>
            </a:r>
            <a:r>
              <a:rPr lang="cs-CZ" dirty="0"/>
              <a:t>e</a:t>
            </a:r>
            <a:r>
              <a:rPr lang="en-US" dirty="0"/>
              <a:t>j</a:t>
            </a:r>
            <a:r>
              <a:rPr lang="cs-CZ" dirty="0" err="1"/>
              <a:t>ší</a:t>
            </a:r>
            <a:r>
              <a:rPr lang="cs-CZ" dirty="0"/>
              <a:t>,</a:t>
            </a:r>
            <a:r>
              <a:rPr lang="en-US" dirty="0"/>
              <a:t> </a:t>
            </a:r>
            <a:r>
              <a:rPr lang="en-US" dirty="0" err="1"/>
              <a:t>tak</a:t>
            </a:r>
            <a:r>
              <a:rPr lang="cs-CZ" dirty="0"/>
              <a:t>že </a:t>
            </a:r>
            <a:r>
              <a:rPr lang="en-US" dirty="0"/>
              <a:t>je to </a:t>
            </a:r>
            <a:r>
              <a:rPr lang="en-US" dirty="0" err="1"/>
              <a:t>shiftnut</a:t>
            </a:r>
            <a:r>
              <a:rPr lang="cs-CZ" dirty="0"/>
              <a:t>ý</a:t>
            </a:r>
            <a:r>
              <a:rPr lang="en-US" dirty="0"/>
              <a:t> + je </a:t>
            </a:r>
            <a:r>
              <a:rPr lang="en-US" dirty="0" err="1"/>
              <a:t>asi</a:t>
            </a:r>
            <a:r>
              <a:rPr lang="en-US" dirty="0"/>
              <a:t> </a:t>
            </a:r>
            <a:r>
              <a:rPr lang="en-US" dirty="0" err="1"/>
              <a:t>leh</a:t>
            </a:r>
            <a:r>
              <a:rPr lang="cs-CZ" dirty="0"/>
              <a:t>čí</a:t>
            </a:r>
            <a:r>
              <a:rPr lang="en-US" dirty="0"/>
              <a:t> pro n</a:t>
            </a:r>
            <a:r>
              <a:rPr lang="cs-CZ" dirty="0"/>
              <a:t>ě</a:t>
            </a:r>
            <a:r>
              <a:rPr lang="en-US" dirty="0"/>
              <a:t>j </a:t>
            </a:r>
            <a:r>
              <a:rPr lang="en-US" dirty="0" err="1"/>
              <a:t>naj</a:t>
            </a:r>
            <a:r>
              <a:rPr lang="cs-CZ" dirty="0"/>
              <a:t>í</a:t>
            </a:r>
            <a:r>
              <a:rPr lang="en-US" dirty="0"/>
              <a:t>t </a:t>
            </a:r>
            <a:r>
              <a:rPr lang="en-US" dirty="0" err="1"/>
              <a:t>levely</a:t>
            </a:r>
            <a:r>
              <a:rPr lang="cs-CZ" dirty="0"/>
              <a:t>, </a:t>
            </a:r>
            <a:r>
              <a:rPr lang="en-US" dirty="0" err="1"/>
              <a:t>kter</a:t>
            </a:r>
            <a:r>
              <a:rPr lang="cs-CZ" dirty="0"/>
              <a:t>é</a:t>
            </a:r>
            <a:r>
              <a:rPr lang="en-US" dirty="0"/>
              <a:t> mu </a:t>
            </a:r>
            <a:r>
              <a:rPr lang="en-US" dirty="0" err="1"/>
              <a:t>trvaj</a:t>
            </a:r>
            <a:r>
              <a:rPr lang="cs-CZ" dirty="0"/>
              <a:t>í</a:t>
            </a:r>
            <a:r>
              <a:rPr lang="en-US" dirty="0"/>
              <a:t> d</a:t>
            </a:r>
            <a:r>
              <a:rPr lang="cs-CZ" dirty="0"/>
              <a:t>é</a:t>
            </a:r>
            <a:r>
              <a:rPr lang="en-US" dirty="0"/>
              <a:t>le </a:t>
            </a:r>
            <a:r>
              <a:rPr lang="en-US" dirty="0" err="1"/>
              <a:t>dokon</a:t>
            </a:r>
            <a:r>
              <a:rPr lang="cs-CZ" dirty="0"/>
              <a:t>č</a:t>
            </a:r>
            <a:r>
              <a:rPr lang="en-US" dirty="0"/>
              <a:t>it?</a:t>
            </a:r>
            <a:r>
              <a:rPr lang="cs-CZ" dirty="0"/>
              <a:t> </a:t>
            </a:r>
            <a:r>
              <a:rPr lang="en-US" dirty="0"/>
              <a:t>(</a:t>
            </a:r>
            <a:r>
              <a:rPr lang="en-US" dirty="0" err="1"/>
              <a:t>mo</a:t>
            </a:r>
            <a:r>
              <a:rPr lang="cs-CZ" dirty="0" err="1"/>
              <a:t>žná</a:t>
            </a:r>
            <a:r>
              <a:rPr lang="cs-CZ" dirty="0"/>
              <a:t> jen </a:t>
            </a:r>
            <a:r>
              <a:rPr lang="cs-CZ" dirty="0" err="1"/>
              <a:t>copeuju</a:t>
            </a:r>
            <a:r>
              <a:rPr lang="en-US" dirty="0"/>
              <a:t>) </a:t>
            </a:r>
            <a:endParaRPr lang="cs-CZ" dirty="0"/>
          </a:p>
          <a:p>
            <a:endParaRPr lang="cs-CZ" dirty="0"/>
          </a:p>
          <a:p>
            <a:r>
              <a:rPr lang="en-US" dirty="0" err="1"/>
              <a:t>Zajimav</a:t>
            </a:r>
            <a:r>
              <a:rPr lang="cs-CZ" dirty="0"/>
              <a:t>ý</a:t>
            </a:r>
            <a:r>
              <a:rPr lang="en-US" dirty="0"/>
              <a:t> je </a:t>
            </a:r>
            <a:r>
              <a:rPr lang="en-US" dirty="0" err="1"/>
              <a:t>podle</a:t>
            </a:r>
            <a:r>
              <a:rPr lang="en-US" dirty="0"/>
              <a:t> m</a:t>
            </a:r>
            <a:r>
              <a:rPr lang="cs-CZ" dirty="0"/>
              <a:t>ě i</a:t>
            </a:r>
            <a:r>
              <a:rPr lang="en-US" dirty="0"/>
              <a:t> </a:t>
            </a:r>
            <a:r>
              <a:rPr lang="en-US" dirty="0" err="1"/>
              <a:t>normaln</a:t>
            </a:r>
            <a:r>
              <a:rPr lang="cs-CZ" dirty="0"/>
              <a:t>í</a:t>
            </a:r>
            <a:r>
              <a:rPr lang="en-US" dirty="0"/>
              <a:t> </a:t>
            </a:r>
            <a:r>
              <a:rPr lang="en-US" dirty="0" err="1"/>
              <a:t>mff-Astar</a:t>
            </a:r>
            <a:r>
              <a:rPr lang="cs-CZ" dirty="0"/>
              <a:t>, který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udr</a:t>
            </a:r>
            <a:r>
              <a:rPr lang="cs-CZ" dirty="0"/>
              <a:t>ž</a:t>
            </a:r>
            <a:r>
              <a:rPr lang="en-US" dirty="0" err="1"/>
              <a:t>uje</a:t>
            </a:r>
            <a:r>
              <a:rPr lang="en-US" dirty="0"/>
              <a:t> “dost </a:t>
            </a:r>
            <a:r>
              <a:rPr lang="en-US" dirty="0" err="1"/>
              <a:t>podobn</a:t>
            </a:r>
            <a:r>
              <a:rPr lang="cs-CZ" dirty="0"/>
              <a:t>ý</a:t>
            </a:r>
            <a:r>
              <a:rPr lang="en-US" dirty="0"/>
              <a:t>” runtime po </a:t>
            </a:r>
            <a:r>
              <a:rPr lang="en-US" dirty="0" err="1"/>
              <a:t>celou</a:t>
            </a:r>
            <a:r>
              <a:rPr lang="en-US" dirty="0"/>
              <a:t> </a:t>
            </a:r>
            <a:r>
              <a:rPr lang="en-US" dirty="0" err="1"/>
              <a:t>dobu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3332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DD6A3-951A-ABE0-EC2A-9F2815EA0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AB980A-C49D-6538-E900-F4305AB32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Run-TIMe</a:t>
            </a:r>
            <a:r>
              <a:rPr lang="en-US" dirty="0"/>
              <a:t> – </a:t>
            </a:r>
            <a:r>
              <a:rPr lang="en-US" dirty="0" err="1"/>
              <a:t>AsTARGRID</a:t>
            </a:r>
            <a:r>
              <a:rPr lang="en-US" dirty="0"/>
              <a:t> VS ASTAR VS BAUMGARTEN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2444EB9-9827-6832-AA77-FAAA465D7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45" y="1923012"/>
            <a:ext cx="2903898" cy="4903700"/>
          </a:xfrm>
        </p:spPr>
        <p:txBody>
          <a:bodyPr>
            <a:normAutofit/>
          </a:bodyPr>
          <a:lstStyle/>
          <a:p>
            <a:r>
              <a:rPr lang="en-US" dirty="0" err="1"/>
              <a:t>AStarGrid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AStar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9948C1A0-3A57-5C89-CD1F-F61CF4D62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526" y="1792936"/>
            <a:ext cx="9119474" cy="219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38D4F084-B881-4166-0B82-257C403F4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680" y="4526857"/>
            <a:ext cx="9425320" cy="2270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6790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24D60-C8B5-C607-81C8-11E581805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811CE6-6D06-31B6-B283-65E4B9F9F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Run-TIMe</a:t>
            </a:r>
            <a:r>
              <a:rPr lang="en-US" dirty="0"/>
              <a:t> – </a:t>
            </a:r>
            <a:r>
              <a:rPr lang="en-US" dirty="0" err="1"/>
              <a:t>AsTARGRID</a:t>
            </a:r>
            <a:r>
              <a:rPr lang="en-US" dirty="0"/>
              <a:t> VS ASTAR VS BAUMGARTEN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4B11B04-75B4-101A-522D-2EAEEF4AE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45" y="1923012"/>
            <a:ext cx="2903898" cy="4903700"/>
          </a:xfrm>
        </p:spPr>
        <p:txBody>
          <a:bodyPr>
            <a:normAutofit/>
          </a:bodyPr>
          <a:lstStyle/>
          <a:p>
            <a:r>
              <a:rPr lang="en-US" dirty="0"/>
              <a:t>Baumgarten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2DE92EAC-210B-978F-56BA-B6689A6BD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60" y="2755267"/>
            <a:ext cx="11175877" cy="269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3878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D068A-8A19-D04F-F78A-B8F022362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557851-8075-54A1-2900-9603ECA5F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backtracked nodes - Baumgarten vs. </a:t>
            </a:r>
            <a:r>
              <a:rPr lang="en-US" dirty="0" err="1"/>
              <a:t>astarGrid</a:t>
            </a:r>
            <a:r>
              <a:rPr lang="en-US" dirty="0"/>
              <a:t> vs. </a:t>
            </a:r>
            <a:r>
              <a:rPr lang="en-US" dirty="0" err="1"/>
              <a:t>astar</a:t>
            </a:r>
            <a:endParaRPr lang="en-US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EBF3C816-509A-B032-A818-E2CEC2D99E8F}"/>
              </a:ext>
            </a:extLst>
          </p:cNvPr>
          <p:cNvSpPr txBox="1"/>
          <p:nvPr/>
        </p:nvSpPr>
        <p:spPr>
          <a:xfrm>
            <a:off x="0" y="2084133"/>
            <a:ext cx="3833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8E68F60-43A9-3ADD-953D-852741F5E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7847" y="1792936"/>
            <a:ext cx="7560892" cy="506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F30CAD61-996F-4071-3DF3-E5F9C5998DE5}"/>
              </a:ext>
            </a:extLst>
          </p:cNvPr>
          <p:cNvSpPr txBox="1"/>
          <p:nvPr/>
        </p:nvSpPr>
        <p:spPr>
          <a:xfrm>
            <a:off x="53261" y="1991800"/>
            <a:ext cx="390726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/>
              <a:t>Tady jsem přidával počítání </a:t>
            </a:r>
            <a:r>
              <a:rPr lang="cs-CZ" dirty="0" err="1"/>
              <a:t>backtracked</a:t>
            </a:r>
            <a:r>
              <a:rPr lang="cs-CZ" dirty="0"/>
              <a:t> </a:t>
            </a:r>
            <a:r>
              <a:rPr lang="cs-CZ" dirty="0" err="1"/>
              <a:t>nodes</a:t>
            </a:r>
            <a:r>
              <a:rPr lang="cs-CZ" dirty="0"/>
              <a:t> k </a:t>
            </a:r>
            <a:r>
              <a:rPr lang="cs-CZ" dirty="0" err="1"/>
              <a:t>Baumgartenovi</a:t>
            </a:r>
            <a:r>
              <a:rPr lang="cs-CZ" dirty="0"/>
              <a:t> to se ještě musím ujistit, že je to implementovaný správně, ale jsem přesvědčen, že je</a:t>
            </a:r>
          </a:p>
          <a:p>
            <a:endParaRPr lang="cs-CZ" dirty="0"/>
          </a:p>
          <a:p>
            <a:endParaRPr lang="cs-CZ" dirty="0"/>
          </a:p>
          <a:p>
            <a:r>
              <a:rPr lang="en-US" dirty="0"/>
              <a:t>((</a:t>
            </a:r>
            <a:r>
              <a:rPr lang="cs-CZ" dirty="0"/>
              <a:t>Proč ty hodnoty tak skáčou, je podle mě kvůli tomu, že ten </a:t>
            </a:r>
            <a:r>
              <a:rPr lang="cs-CZ" dirty="0" err="1"/>
              <a:t>vylepšovátor</a:t>
            </a:r>
            <a:r>
              <a:rPr lang="cs-CZ" dirty="0"/>
              <a:t> neviděl, že to jak mění ty levely má nějaký vliv, takže šel více do extrémů</a:t>
            </a:r>
            <a:r>
              <a:rPr lang="en-US" dirty="0"/>
              <a:t>. Nebo je prost</a:t>
            </a:r>
            <a:r>
              <a:rPr lang="cs-CZ" dirty="0"/>
              <a:t>ě možný, že to je jen vliv těch </a:t>
            </a:r>
            <a:r>
              <a:rPr lang="cs-CZ" dirty="0" err="1"/>
              <a:t>backtracked</a:t>
            </a:r>
            <a:r>
              <a:rPr lang="cs-CZ" dirty="0"/>
              <a:t> </a:t>
            </a:r>
            <a:r>
              <a:rPr lang="cs-CZ" dirty="0" err="1"/>
              <a:t>nodes</a:t>
            </a:r>
            <a:r>
              <a:rPr lang="en-US" dirty="0"/>
              <a:t>))</a:t>
            </a:r>
            <a:endParaRPr lang="cs-CZ" dirty="0"/>
          </a:p>
          <a:p>
            <a:endParaRPr lang="cs-CZ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5090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AC0B5-566F-6FF2-02FC-D47ED2F18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8D8717-0CCE-E125-41FF-6F7F54798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backtracked nodes - Baumgarten vs. </a:t>
            </a:r>
            <a:r>
              <a:rPr lang="en-US" dirty="0" err="1"/>
              <a:t>astarGrid</a:t>
            </a:r>
            <a:r>
              <a:rPr lang="en-US" dirty="0"/>
              <a:t> vs. </a:t>
            </a:r>
            <a:r>
              <a:rPr lang="en-US" dirty="0" err="1"/>
              <a:t>astar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D2DAD14-0448-C83E-516E-0FB1D4826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45" y="1923012"/>
            <a:ext cx="2903898" cy="4903700"/>
          </a:xfrm>
        </p:spPr>
        <p:txBody>
          <a:bodyPr>
            <a:normAutofit/>
          </a:bodyPr>
          <a:lstStyle/>
          <a:p>
            <a:r>
              <a:rPr lang="en-US" dirty="0" err="1"/>
              <a:t>AStarGrid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Astar</a:t>
            </a:r>
            <a:r>
              <a:rPr lang="cs-CZ" dirty="0"/>
              <a:t> </a:t>
            </a:r>
            <a:r>
              <a:rPr lang="cs-CZ" dirty="0">
                <a:sym typeface="Wingdings" panose="05000000000000000000" pitchFamily="2" charset="2"/>
              </a:rPr>
              <a:t>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29688B4A-C8ED-12DF-DCEF-7ED794EDC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603" y="1792936"/>
            <a:ext cx="9119474" cy="219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712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6367F-088F-88E7-4EE9-9C53ACA38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81888E-E25B-D258-412D-C492C7671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backtracked nodes - Baumgarten vs. </a:t>
            </a:r>
            <a:r>
              <a:rPr lang="en-US" dirty="0" err="1"/>
              <a:t>astarGrid</a:t>
            </a:r>
            <a:r>
              <a:rPr lang="en-US" dirty="0"/>
              <a:t> vs. </a:t>
            </a:r>
            <a:r>
              <a:rPr lang="en-US" dirty="0" err="1"/>
              <a:t>astar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13C7D6E-03F4-051C-1BA5-155A8D1AE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45" y="1923012"/>
            <a:ext cx="2903898" cy="4903700"/>
          </a:xfrm>
        </p:spPr>
        <p:txBody>
          <a:bodyPr>
            <a:normAutofit/>
          </a:bodyPr>
          <a:lstStyle/>
          <a:p>
            <a:r>
              <a:rPr lang="en-US" dirty="0"/>
              <a:t>Baumgarten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7F416377-61C5-DEAE-538A-3DFCC7D67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76128"/>
            <a:ext cx="12043017" cy="2904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23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81BD8-F4B0-0030-5849-9F3256021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54E20E-E3FA-FB07-D982-4079BABD9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vylepsovat levely aby tam bylo co nejvic enemaku</a:t>
            </a:r>
            <a:endParaRPr lang="en-US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5B3F146C-6F48-0B18-8376-A2A5D5FF8928}"/>
              </a:ext>
            </a:extLst>
          </p:cNvPr>
          <p:cNvSpPr txBox="1"/>
          <p:nvPr/>
        </p:nvSpPr>
        <p:spPr>
          <a:xfrm>
            <a:off x="0" y="2084133"/>
            <a:ext cx="3833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E8C2726C-CC53-D6B0-5928-E90880D9FB66}"/>
              </a:ext>
            </a:extLst>
          </p:cNvPr>
          <p:cNvSpPr txBox="1"/>
          <p:nvPr/>
        </p:nvSpPr>
        <p:spPr>
          <a:xfrm>
            <a:off x="53261" y="1991800"/>
            <a:ext cx="390726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/>
              <a:t>Čím více </a:t>
            </a:r>
            <a:r>
              <a:rPr lang="cs-CZ" dirty="0" err="1"/>
              <a:t>enemáků</a:t>
            </a:r>
            <a:r>
              <a:rPr lang="cs-CZ" dirty="0"/>
              <a:t> v levelu tím lepší fitness, ale pokud daný agent nebude moct dokončit level dostane penalty.</a:t>
            </a:r>
          </a:p>
          <a:p>
            <a:endParaRPr lang="cs-CZ" dirty="0"/>
          </a:p>
          <a:p>
            <a:endParaRPr lang="cs-CZ" dirty="0"/>
          </a:p>
          <a:p>
            <a:r>
              <a:rPr lang="cs-CZ" dirty="0" err="1"/>
              <a:t>AStarGrid</a:t>
            </a:r>
            <a:r>
              <a:rPr lang="cs-CZ" dirty="0"/>
              <a:t> </a:t>
            </a:r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74131EE-0138-78F6-AA37-AB4EBD74E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1562100"/>
            <a:ext cx="7439025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39789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06B4A0-545D-3B91-26A2-75808C1C8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vylepsovat levely aby tam bylo co nejvic enemaku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08B54F-CBFA-1775-2506-50C26C617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AStarGrid</a:t>
            </a:r>
            <a:endParaRPr lang="en-US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478491F7-7111-4B5F-0842-367E319D0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87" y="3014600"/>
            <a:ext cx="11969313" cy="2882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7510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67BC2-F145-9A51-9A28-987ADE622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EF29FD-0F7D-5E29-72DE-6E9619957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Gridsearch jumpy</a:t>
            </a:r>
            <a:endParaRPr lang="en-US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30768969-0E80-D06B-2B1C-767A69FFF15C}"/>
              </a:ext>
            </a:extLst>
          </p:cNvPr>
          <p:cNvSpPr txBox="1"/>
          <p:nvPr/>
        </p:nvSpPr>
        <p:spPr>
          <a:xfrm>
            <a:off x="0" y="2084133"/>
            <a:ext cx="3833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8B4149E6-B40F-AD96-F3A6-88D1B1EEE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113" y="1670222"/>
            <a:ext cx="75057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25310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uhy">
  <a:themeElements>
    <a:clrScheme name="Pruhy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Pruhy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Pruhy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TM03090430[[fn=Pruhy]]</Template>
  <TotalTime>5536</TotalTime>
  <Words>1336</Words>
  <Application>Microsoft Office PowerPoint</Application>
  <PresentationFormat>Širokoúhlá obrazovka</PresentationFormat>
  <Paragraphs>217</Paragraphs>
  <Slides>32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32</vt:i4>
      </vt:variant>
    </vt:vector>
  </HeadingPairs>
  <TitlesOfParts>
    <vt:vector size="36" baseType="lpstr">
      <vt:lpstr>Arial</vt:lpstr>
      <vt:lpstr>Corbel</vt:lpstr>
      <vt:lpstr>Wingdings</vt:lpstr>
      <vt:lpstr>Pruhy</vt:lpstr>
      <vt:lpstr> OVerVIEW Of Results  TOAD-GAN &amp; MARIOGAN</vt:lpstr>
      <vt:lpstr>TOAD-GAN</vt:lpstr>
      <vt:lpstr>TOAD-GAN</vt:lpstr>
      <vt:lpstr>generovat 100 levelů z original 1-1</vt:lpstr>
      <vt:lpstr>generovat 100 levelů z original 3-3 </vt:lpstr>
      <vt:lpstr>generovat 100 levelů z krys-1</vt:lpstr>
      <vt:lpstr>(Larger test results)</vt:lpstr>
      <vt:lpstr>DAGSTUHL MARIOGAN</vt:lpstr>
      <vt:lpstr>TODO LIST DAGSTUHL</vt:lpstr>
      <vt:lpstr>TODO LIST DAGSTUHL </vt:lpstr>
      <vt:lpstr>Dagstuhl</vt:lpstr>
      <vt:lpstr>JUMP test Baumgarten vs. MFF astarGrid</vt:lpstr>
      <vt:lpstr>JUMP test Baumgarten vs. MFF astarGrid</vt:lpstr>
      <vt:lpstr>JUMP test Baumgarten vs. MFF astarGrid</vt:lpstr>
      <vt:lpstr>JUMP test Baumgarten vs. MFF astarGrid</vt:lpstr>
      <vt:lpstr>JUMP test Baumgarten vs. MFF astarGrid s jinými parametry</vt:lpstr>
      <vt:lpstr>JUMP test Baumgarten vs. MFF astarGrid s jinými parametry</vt:lpstr>
      <vt:lpstr>KRYS JUMP test Baumgarten vs. MFF astarGrid</vt:lpstr>
      <vt:lpstr>KRYS JUMP test Baumgarten vs. MFF astarGrid</vt:lpstr>
      <vt:lpstr>grid search - počet skoků bez dynamických prvků</vt:lpstr>
      <vt:lpstr>grid search - počet skoků bez dynamických prvků</vt:lpstr>
      <vt:lpstr>grid search - počet skoků bez dynamických prvků</vt:lpstr>
      <vt:lpstr>KRYS grid search - počet skoků bez dynamických prvků </vt:lpstr>
      <vt:lpstr>Run-TIMe – AsTARGRID VS ASTAR VS BAUMGARTEN</vt:lpstr>
      <vt:lpstr>Run-TIMe – AsTARGRID VS ASTAR VS BAUMGARTEN</vt:lpstr>
      <vt:lpstr>Run-TIMe – AsTARGRID VS ASTAR VS BAUMGARTEN</vt:lpstr>
      <vt:lpstr>backtracked nodes - Baumgarten vs. astarGrid vs. astar</vt:lpstr>
      <vt:lpstr>backtracked nodes - Baumgarten vs. astarGrid vs. astar</vt:lpstr>
      <vt:lpstr>backtracked nodes - Baumgarten vs. astarGrid vs. astar</vt:lpstr>
      <vt:lpstr>vylepsovat levely aby tam bylo co nejvic enemaku</vt:lpstr>
      <vt:lpstr>vylepsovat levely aby tam bylo co nejvic enemaku</vt:lpstr>
      <vt:lpstr>Gridsearch jumpy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 TOAD-GAN &amp; MARIOGAN</dc:title>
  <dc:creator>Jakub Rollo</dc:creator>
  <cp:lastModifiedBy>jakubrollo10@gmail.com</cp:lastModifiedBy>
  <cp:revision>6</cp:revision>
  <dcterms:created xsi:type="dcterms:W3CDTF">2024-05-16T09:31:22Z</dcterms:created>
  <dcterms:modified xsi:type="dcterms:W3CDTF">2024-11-21T18:01:50Z</dcterms:modified>
</cp:coreProperties>
</file>